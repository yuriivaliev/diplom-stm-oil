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5"/>
  </p:normalViewPr>
  <p:slideViewPr>
    <p:cSldViewPr snapToGrid="0" snapToObjects="1">
      <p:cViewPr varScale="1">
        <p:scale>
          <a:sx n="75" d="100"/>
          <a:sy n="75" d="100"/>
        </p:scale>
        <p:origin x="10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0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Представляю итоговую работу ДПО МГИМО Нейро: проект запуска собственной торговой марки моторных масел ELITEN. Это не рекламная презентация готового продукта, а исследовательско-прикладная концепция: от анализа рынка и спроса до бренда, упаковки, ограничений и roadmap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Исходная задача возникла в связи с рыночными изменений после 2022 года и потребности </a:t>
            </a:r>
            <a:r>
              <a:rPr lang="ru-RU"/>
              <a:t>в создания понятной </a:t>
            </a:r>
            <a:r>
              <a:rPr lang="ru-RU" dirty="0"/>
              <a:t>продуктовой архитектуре СТМ. На текущий момент цель работы — не доказать, что продукт уже готов к запуску, а показать, как на основе данных и проверяемых гипотез сформирована концепция запуска.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проекте инструменты программы курса применялись как управляемый workflow: постановка задачи, усиление промптов, Red Team, Deep Research, декомпозиция результатов, PGMM/ODSA-аудит и генерация визуальных концептов. ИИ здесь выступал не источником истины, а инструментом исследования и прототипирования.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НЕ ЧИТАТЬ</a:t>
            </a:r>
            <a:br>
              <a:rPr lang="ru-RU" dirty="0"/>
            </a:b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Practical Guide to Metaphorical Mapping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(практическое руководство по метафорическому мэппингу)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 Guide for Deictic Systems Analysis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(анализ дейктических систем)</a:t>
            </a:r>
            <a:endParaRPr lang="ru-R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не смешивать разные типы доказательности, материалы были разведены по слоям. Deep Research A отвечает за рынок и бренды, Deep Research B — за SAE и продуктовую логику. Слои S2 и V1 не объединяются как одна база. Эскизы упаковки рассматриваются отдельно как concept front mockups.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Deep Research A фиксирует подтверждённый retail-срез 2023: лидируют LUKOIL, Gazpromneft и Rosneft, далее ZIC и Shell. После 2022 года рынок испытал шоки: уход или перестройка зарубежных операторов, включая Shell, ExxonMobil, Total и Castrol, а также резкий рост цен на ключевые 4L позиции, составляющий в том числе и на российские бренды от 121% до 134%. Это создаёт окно для СТМ, но не доказывает будущую долю рынка.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V1 aftermarket-proxy используется как слой динамики после изменений 2022 года. Он показывает направление: LUKOIL, ZIC, SINTEC и Rolf усиливаются, Shell, Mobil, </a:t>
            </a:r>
            <a:r>
              <a:rPr lang="ru-RU" dirty="0" err="1"/>
              <a:t>Castrol</a:t>
            </a:r>
            <a:r>
              <a:rPr lang="ru-RU" dirty="0"/>
              <a:t> снижаются. Это важно для интерпретации структурного сдвига в пользу российских и азиатских марок, но V1 не является retail-якорем ёмкости рынка и не должен смешиваться с S2.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развести термины. Розничный якорь S2 — это уровень рынка: retail 2023, Aftermarket-DATA, ёмкость 278 млн литров и доли лидеров. Тренд aftermarket V1 — это proxy-динамика после 2022 года: кто растёт и кто падает. Главное правило: S2 равно УРОВЕНЬ, V1 равно ТРЕНД, их нельзя смешивать; при расхождении для долей и ёмкости приоритет имеет S2.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Deep Research B отвечает за вязкости. В открытом срезе 1П2023 5W-30 занимает около 35%, 5W-40 около 32%; в synthetic retail они также образуют ядро: 45,9% и 51,0%. 0W-XX в Москве и МО снизился с 6% до 4%, но в 2025 именно 0W-20 стал fastest growth: +10,1% в литрах и +16% в деньгах. B2X 2026 г. снова называет 0W-20 лидером роста. 10W-40 важен как coverage-SKU: в ЮФО 49%, в Москве и МО 17%, но как </a:t>
            </a:r>
            <a:r>
              <a:rPr lang="ru-RU" dirty="0" err="1"/>
              <a:t>declining</a:t>
            </a:r>
            <a:r>
              <a:rPr lang="ru-RU" dirty="0"/>
              <a:t> </a:t>
            </a:r>
            <a:r>
              <a:rPr lang="ru-RU" dirty="0" err="1"/>
              <a:t>legacy</a:t>
            </a:r>
            <a:r>
              <a:rPr lang="ru-RU" dirty="0"/>
              <a:t> (приходящее в упадок наследие).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Линейка разделена на две ветки. Classic Protect закрывает 5W-40 как массовый synthetic core и 10W-40 как legacy coverage. На это повлияли Deep Research B, PGMM/ODSA по 5W-40 и 10W-40 и roadmap-логика OST. Modern Tech закрывает 5W-30 как core/OEM и 0W-20 как growth/future driver; на решение повлияли Deep Research B, китайский парк, аналитические фреймворки (CLA/OST/RBS) и визуальные mockups Modern. Это гипотеза линейки, требующая валидации.</a:t>
            </a:r>
            <a:br>
              <a:rPr lang="ru-RU" dirty="0"/>
            </a:br>
            <a:br>
              <a:rPr lang="ru-RU" dirty="0"/>
            </a:br>
            <a:endParaRPr lang="ru-RU" dirty="0"/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 / OST / RBS 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 аналитических фреймворка из декомпозиции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Deep Research B 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этап 3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a).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Они переводят отчёт по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SAE/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вязкостям в решения по линейке, волнам запуска и ТЗ. Вместе с 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MECE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идут пакетом 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MECE → CLA → OST → RBS.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 — Causal Layered Analysis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Причинно-слоёный анализ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Смотрит на тренд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только «что растёт»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но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на нескольких уровнях (факты → система → мировоззрение → метафора).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OST — Opportunity Solution Tree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(Дерево возможностей и решений)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Связывает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 → проблемы/возможности → решения (</a:t>
            </a:r>
            <a:r>
              <a:rPr lang="e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SKU,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регион)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приоритет запуска</a:t>
            </a:r>
            <a:b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RBS — Requirements Breakdown Structure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Иерархия требований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(не путать с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OEM-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кодом «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RBS0-2AE»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отчёте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Geely)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Разбивает продукт на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бизнес → функциональные (ТЗ) → нефункциональные (фасовка и т.д.)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PGMM/ODSA сравнивались согласованные конкуренты: по 5W-40 — LUKOIL LUXE, Gazpromneft Premium N, Mobil Super 3000 x1; по 0W-20 — Mobil 1 и Castrol EDGE; по 10W-40 — LUKOIL SUPER, Gazpromneft Super и Mobil Super 2000 x1. Вывод: часто доминирует риторика защиты и силы, а API/OEM-информация может быть off-front, microtype или back-only. Для ELITEN это задаёт gap </a:t>
            </a:r>
            <a:r>
              <a:rPr lang="ru-RU" dirty="0" err="1"/>
              <a:t>readable</a:t>
            </a:r>
            <a:r>
              <a:rPr lang="ru-RU" dirty="0"/>
              <a:t> </a:t>
            </a:r>
            <a:r>
              <a:rPr lang="ru-RU" dirty="0" err="1"/>
              <a:t>spec</a:t>
            </a:r>
            <a:r>
              <a:rPr lang="ru-RU" dirty="0"/>
              <a:t> (понятная спецификация зазора).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ELITEN выбран не как luxury-обещание, а как инженерный зонтик понятного выбора продукта под задачу. Это снимает риск false premium: бренд поддерживается readable spec-логикой, качественной базой и мировыми пакетами присадок как проектной рамкой. Classic Protect отвечает за массовую и legacy-ветку, Modern Tech — за современную SAE/OEM-логику. Verum и Calibr использовались как DDx-альтернативы, а FIPS RU 1172689 вынесен отдельным проверочным слоем( зарегистрированный товарный знак).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Визуальные материалы представлены только как concept front mockups. Они показывают направление дизайн-системы: единый графитовый носитель, разные ветки Classic Protect и Modern Tech, читаемая SAE/API-зона и янтарный oil ribbon как категорийный сигнал. Это не финальная этикетка.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Ключевое ограничение: в открытых источниках не подтверждены доли лидеров за 2024–2026 годы, включая LUKOIL и Gazpromneft, которые лидировали в retail 2023. Их сильное присутствие в текущем retail/B2X-поле можно рассматривать как рабочую гипотезу о сохранении сильных позиций, но не как подтверждённый вывод о долях. Отдельно требуют проверки TDS, back label, юридические и коммерческие параметры.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Итог работы — проверяемая концепция запуска СТМ ELITEN: рыночная рамка, SKU-гипотеза, бренд-архитектура, визуальная система и список зон проверки. Следующий этап — техническая, юридическая и коммерческая валидация перед любыми утверждениями о готовом продукте.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Приложение A1 показывает, как компетенции программы переведены в управляемый </a:t>
            </a:r>
            <a:r>
              <a:rPr lang="en-US" dirty="0"/>
              <a:t>AI</a:t>
            </a:r>
            <a:r>
              <a:rPr lang="ru-RU" dirty="0"/>
              <a:t>-</a:t>
            </a:r>
            <a:r>
              <a:rPr lang="ru-RU" dirty="0" err="1"/>
              <a:t>workflow</a:t>
            </a:r>
            <a:r>
              <a:rPr lang="en-US" dirty="0"/>
              <a:t> </a:t>
            </a:r>
            <a:r>
              <a:rPr lang="en-US" b="0" dirty="0"/>
              <a:t>(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Artificial Intelligence)</a:t>
            </a:r>
            <a:r>
              <a:rPr lang="ru-RU" dirty="0"/>
              <a:t>. Сначала — протокол аналитика и план этапов 0–7, затем meta-prompting через GPTOracle и Red Team для Deep Research A и B. Отдельно зафиксирована проверка результатов: декомпозиция, wiki-ingest и разведение фактов, выводов и гипотез. Это ответ комиссии на вопрос, что именно делалось методологически, а не только какой получился рыночный вывод.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Приложение A2 закрывает прикладной блок программы: PGMM выявил white space в spec-коммуникации, ODSA — риски claims и back label, DDx и проверка FIPS вне LLM обосновали выбор ELITEN. Concept front </a:t>
            </a:r>
            <a:r>
              <a:rPr lang="ru-RU" dirty="0" err="1"/>
              <a:t>mockups</a:t>
            </a:r>
            <a:r>
              <a:rPr lang="ru-RU" dirty="0"/>
              <a:t> связывают визуальную систему с PGMM/ODSA, а четыре аналитических фреймворка из декомпозиции В (MECE/CLA/OST/RBS) перевели отчёты в операционный чеклист. Проект дошёл от desk research до бренда, упаковки и roadmap проверки.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MECE →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входит в анализ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SAE (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 дыр и дублей)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 →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зачем два «мира» спроса →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Modern vs Classic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OST →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каком порядке и регионе → 3 волны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RBS →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какие требования к рецептуре и упаковке → ТЗ + 5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L/4L</a:t>
            </a:r>
          </a:p>
          <a:p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объяснила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бим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odal Modern/Classic, OST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задал три волны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SKU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регионам,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RBS —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технические требования и фасовку; из этого собран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roadmap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приложение </a:t>
            </a:r>
            <a:r>
              <a:rPr lang="e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B.»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Приложение B — сводный чеклист запуска из декомпозиции Deep Research. Продукт: bimodal Classic Protect / Modern Tech и три волны — 5W-40+5W-30, затем 0W-20, 10W-40 для ЮФО. R&amp;D фиксирует рамки ТЗ и mockups 8/8, без утверждения о готовности к продаже. Маркетинг и дистрибуция — next steps: коммуникация, регионы, цена. Аналитика не осталась набором отчётов, а стала проверяемым планом следующих шагов.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4" name="Image 0" descr="gen-dedup-7f0aa505c7f66f85dfbc28cce9e90fb3.png"/>
          <p:cNvPicPr>
            <a:picLocks noChangeAspect="1"/>
          </p:cNvPicPr>
          <p:nvPr/>
        </p:nvPicPr>
        <p:blipFill>
          <a:blip r:embed="rId3"/>
          <a:srcRect t="-400" b="-400"/>
          <a:stretch/>
        </p:blipFill>
        <p:spPr>
          <a:xfrm>
            <a:off x="1143000" y="761695"/>
            <a:ext cx="16002000" cy="19202"/>
          </a:xfrm>
          <a:prstGeom prst="rect">
            <a:avLst/>
          </a:prstGeom>
        </p:spPr>
      </p:pic>
      <p:pic>
        <p:nvPicPr>
          <p:cNvPr id="5" name="Image 1" descr="gen-dedup-733bcea1b14b6aea961991e302775537.png"/>
          <p:cNvPicPr>
            <a:picLocks noChangeAspect="1"/>
          </p:cNvPicPr>
          <p:nvPr/>
        </p:nvPicPr>
        <p:blipFill>
          <a:blip r:embed="rId4"/>
          <a:srcRect l="-397" r="-397"/>
          <a:stretch/>
        </p:blipFill>
        <p:spPr>
          <a:xfrm>
            <a:off x="1143000" y="2095805"/>
            <a:ext cx="38405" cy="60963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43000" y="914400"/>
            <a:ext cx="95253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ДПО МГИМО «МГИМО НЕЙРО» · Итоговая работа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12573000" y="914400"/>
            <a:ext cx="45720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НЕЙРОТЕХНОЛОГИИ И ИИ В БИЗНЕСЕ</a:t>
            </a:r>
            <a:endParaRPr lang="en-US" sz="1200" dirty="0"/>
          </a:p>
        </p:txBody>
      </p:sp>
      <p:pic>
        <p:nvPicPr>
          <p:cNvPr id="8" name="Image 2" descr="gen-dedup-b16efd6862a75ea8cac67260f8d6147e.png"/>
          <p:cNvPicPr>
            <a:picLocks noChangeAspect="1"/>
          </p:cNvPicPr>
          <p:nvPr/>
        </p:nvPicPr>
        <p:blipFill>
          <a:blip r:embed="rId5"/>
          <a:srcRect l="-49" r="-49"/>
          <a:stretch/>
        </p:blipFill>
        <p:spPr>
          <a:xfrm>
            <a:off x="1524305" y="2095805"/>
            <a:ext cx="3629254" cy="33375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24305" y="2095805"/>
            <a:ext cx="3629254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9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исследование + прикладной проект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1524305" y="2857500"/>
            <a:ext cx="15240305" cy="262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6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ELITEN — концепция запуска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i="1" kern="0" spc="-60" dirty="0">
                <a:solidFill>
                  <a:srgbClr val="0ABA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собственной торговой марки моторных масел</a:t>
            </a:r>
            <a:endParaRPr lang="en-US" sz="6000" dirty="0"/>
          </a:p>
        </p:txBody>
      </p:sp>
      <p:sp>
        <p:nvSpPr>
          <p:cNvPr id="11" name="Text 6"/>
          <p:cNvSpPr txBox="1"/>
          <p:nvPr/>
        </p:nvSpPr>
        <p:spPr>
          <a:xfrm>
            <a:off x="1524305" y="6191402"/>
            <a:ext cx="16573500" cy="514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94A3B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Концептуальное и аналитическое обоснование вывода нового бренда на рынок РФ</a:t>
            </a:r>
            <a:endParaRPr lang="en-US" sz="2800" dirty="0"/>
          </a:p>
        </p:txBody>
      </p:sp>
      <p:sp>
        <p:nvSpPr>
          <p:cNvPr id="12" name="Text 7"/>
          <p:cNvSpPr txBox="1"/>
          <p:nvPr/>
        </p:nvSpPr>
        <p:spPr>
          <a:xfrm>
            <a:off x="1524305" y="7429500"/>
            <a:ext cx="159261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Исследование рынка · продуктовая гипотеза · архитектура бренда · concept front mockups · roadmap проверки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524305" y="8667598"/>
            <a:ext cx="5715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kern="0" spc="189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Выполнил слушатель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524305" y="8876995"/>
            <a:ext cx="5715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Программа МГИМО НЕЙРО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12573000" y="8667598"/>
            <a:ext cx="457200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00" kern="0" spc="189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Год защиты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2573000" y="8876995"/>
            <a:ext cx="45720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2026</a:t>
            </a:r>
            <a:endParaRPr lang="en-US" sz="2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820656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3715207" cy="5619902"/>
          </a:xfrm>
          <a:prstGeom prst="roundRect">
            <a:avLst>
              <a:gd name="adj" fmla="val 1034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143500" y="2952598"/>
            <a:ext cx="3715207" cy="5619902"/>
          </a:xfrm>
          <a:prstGeom prst="roundRect">
            <a:avLst>
              <a:gd name="adj" fmla="val 1034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1435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9144000" y="2952598"/>
            <a:ext cx="3715207" cy="5619902"/>
          </a:xfrm>
          <a:prstGeom prst="roundRect">
            <a:avLst>
              <a:gd name="adj" fmla="val 1034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91440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3144500" y="2952598"/>
            <a:ext cx="4000500" cy="5619902"/>
          </a:xfrm>
          <a:prstGeom prst="roundRect">
            <a:avLst>
              <a:gd name="adj" fmla="val 960"/>
            </a:avLst>
          </a:prstGeom>
          <a:solidFill>
            <a:srgbClr val="008080"/>
          </a:solidFill>
          <a:ln w="12700">
            <a:solidFill>
              <a:srgbClr val="0ABAB5"/>
            </a:solidFill>
            <a:prstDash val="solid"/>
          </a:ln>
          <a:effectLst>
            <a:outerShdw blurRad="139700" dist="12700" dir="16200000" algn="bl" rotWithShape="0">
              <a:srgbClr val="0ABAB5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Управленческая задача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143000"/>
            <a:ext cx="16002000" cy="1057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От неопределённости к проверяемой концепции запуска бренда ELITEN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Формирование структурированной логики запуска СТМ моторных масел на основе рыночных вводных и системного ИИ-анализа.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80744" y="3191256"/>
            <a:ext cx="705002" cy="219456"/>
          </a:xfrm>
          <a:prstGeom prst="roundRect">
            <a:avLst>
              <a:gd name="adj" fmla="val 17500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 txBox="1"/>
          <p:nvPr/>
        </p:nvSpPr>
        <p:spPr>
          <a:xfrm>
            <a:off x="1380744" y="3191256"/>
            <a:ext cx="7050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kern="0" spc="78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Шаг 01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2172614" y="3224174"/>
            <a:ext cx="5623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Вводные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380744" y="3638398"/>
            <a:ext cx="3238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Рыночные шоки после 2022 года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279449" y="4431182"/>
            <a:ext cx="3340100" cy="230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​Уход западных брендов (Shell, Mobil, Castrol).</a:t>
            </a:r>
            <a:endParaRPr lang="en-US" sz="1600" dirty="0"/>
          </a:p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​Перестройка розничного спроса.</a:t>
            </a:r>
            <a:endParaRPr lang="en-US" sz="1600" dirty="0"/>
          </a:p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​Резкий рост цен в ключевом сегменте 4L.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81244" y="3191256"/>
            <a:ext cx="705002" cy="219456"/>
          </a:xfrm>
          <a:prstGeom prst="roundRect">
            <a:avLst>
              <a:gd name="adj" fmla="val 17500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 txBox="1"/>
          <p:nvPr/>
        </p:nvSpPr>
        <p:spPr>
          <a:xfrm>
            <a:off x="5381244" y="3191256"/>
            <a:ext cx="7050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kern="0" spc="78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Шаг 02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173114" y="3224174"/>
            <a:ext cx="7242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Аналитика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381244" y="3638398"/>
            <a:ext cx="3238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Оценка данных и ограничений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5279949" y="4431182"/>
            <a:ext cx="3340100" cy="230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​Разведение S2 (уровень) и V1 (тренд).</a:t>
            </a:r>
            <a:endParaRPr lang="en-US" sz="1600" dirty="0"/>
          </a:p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​Использование V1 как Aftermarket-прокси.</a:t>
            </a:r>
            <a:endParaRPr lang="en-US" sz="1600" dirty="0"/>
          </a:p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​Фиксация долей 2024–2026 </a:t>
            </a:r>
            <a:r>
              <a:rPr lang="ru-RU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отсутствует</a:t>
            </a: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381744" y="3191256"/>
            <a:ext cx="705002" cy="219456"/>
          </a:xfrm>
          <a:prstGeom prst="roundRect">
            <a:avLst>
              <a:gd name="adj" fmla="val 17500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 txBox="1"/>
          <p:nvPr/>
        </p:nvSpPr>
        <p:spPr>
          <a:xfrm>
            <a:off x="9381744" y="3191256"/>
            <a:ext cx="705002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kern="0" spc="78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Шаг 03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173614" y="3224174"/>
            <a:ext cx="562356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Продукт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381744" y="3638398"/>
            <a:ext cx="32388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Проектирование решений</a:t>
            </a:r>
            <a:endParaRPr lang="en-US" sz="2100" dirty="0"/>
          </a:p>
        </p:txBody>
      </p:sp>
      <p:sp>
        <p:nvSpPr>
          <p:cNvPr id="30" name="Text 28"/>
          <p:cNvSpPr txBox="1"/>
          <p:nvPr/>
        </p:nvSpPr>
        <p:spPr>
          <a:xfrm>
            <a:off x="9280449" y="4431182"/>
            <a:ext cx="3340100" cy="196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​Позиционирование ELITEN как инженерного зонтика.</a:t>
            </a:r>
            <a:endParaRPr lang="en-US" sz="1600" dirty="0"/>
          </a:p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​Бимодальная линейка Classic &amp; Modern.</a:t>
            </a:r>
            <a:endParaRPr lang="en-US" sz="1600" dirty="0"/>
          </a:p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​Разделение 4 базовых SKU.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3382244" y="3191256"/>
            <a:ext cx="533095" cy="219456"/>
          </a:xfrm>
          <a:prstGeom prst="roundRect">
            <a:avLst>
              <a:gd name="adj" fmla="val 17500"/>
            </a:avLst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 txBox="1"/>
          <p:nvPr/>
        </p:nvSpPr>
        <p:spPr>
          <a:xfrm>
            <a:off x="13382244" y="3191256"/>
            <a:ext cx="534010" cy="2194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38100" rIns="101600" bIns="38100" rtlCol="0" anchor="ctr"/>
          <a:lstStyle/>
          <a:p>
            <a:pPr marL="0" indent="0" algn="l">
              <a:buNone/>
            </a:pPr>
            <a:r>
              <a:rPr lang="en-US" sz="900" b="1" kern="0" spc="78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Итог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4004950" y="3224174"/>
            <a:ext cx="3246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План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3382244" y="3638398"/>
            <a:ext cx="35250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Проверяемая концепция запуска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13280949" y="4431182"/>
            <a:ext cx="3626307" cy="230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​Сведение выводов в операционный Roadmap.</a:t>
            </a:r>
            <a:endParaRPr lang="en-US" sz="1600" dirty="0"/>
          </a:p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​Проектирование вех верификации.</a:t>
            </a:r>
            <a:endParaRPr lang="en-US" sz="1600" dirty="0"/>
          </a:p>
          <a:p>
            <a:pPr marL="254000" indent="-254000" algn="l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​Подготовка к коммерческой и технической валидации.</a:t>
            </a:r>
            <a:endParaRPr lang="en-US" sz="1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143500" y="2952598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1435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9144000" y="2952598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9144000" y="2952598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3144500" y="2952598"/>
            <a:ext cx="4000500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3144500" y="2952598"/>
            <a:ext cx="40005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143000" y="6001207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1143000" y="6001207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5143500" y="6001207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5143500" y="6001207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9144000" y="6001207"/>
            <a:ext cx="37152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9144000" y="6001207"/>
            <a:ext cx="3715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13144500" y="6001207"/>
            <a:ext cx="4000500" cy="2762402"/>
          </a:xfrm>
          <a:prstGeom prst="roundRect">
            <a:avLst>
              <a:gd name="adj" fmla="val 1390"/>
            </a:avLst>
          </a:prstGeom>
          <a:solidFill>
            <a:srgbClr val="008080"/>
          </a:solidFill>
          <a:ln w="12700">
            <a:solidFill>
              <a:srgbClr val="0ABAB5"/>
            </a:solidFill>
            <a:prstDash val="solid"/>
          </a:ln>
          <a:effectLst>
            <a:outerShdw blurRad="139700" dist="12700" dir="16200000" algn="bl" rotWithShape="0">
              <a:srgbClr val="0ABAB5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Методология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Методология: управляемый ИИ-workflow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Применение инструментов программы как последовательного исследовательского конвейера с контролем качества и разграничением гипотез.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33195" y="3143707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1333195" y="3143707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1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2028139" y="3167482"/>
            <a:ext cx="6766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Аналитика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333195" y="3486607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Протокол &amp; GPTOracle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225398" y="3878885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​Первичный сбор требований.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​Проектирование ролей.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​Усиление промптов.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333695" y="3143707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0808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 txBox="1"/>
          <p:nvPr/>
        </p:nvSpPr>
        <p:spPr>
          <a:xfrm>
            <a:off x="5333695" y="3143707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028639" y="3167482"/>
            <a:ext cx="6766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Валидация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333695" y="3486607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Аудит Red Team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5225898" y="3878885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​Оппонирование гипотезам.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​Поиск скрытых допущений.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​Фиксация рисков.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334195" y="3143707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 txBox="1"/>
          <p:nvPr/>
        </p:nvSpPr>
        <p:spPr>
          <a:xfrm>
            <a:off x="9334195" y="3143707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3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029139" y="3167482"/>
            <a:ext cx="381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Поиск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9334195" y="3486607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A/B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226398" y="3878885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​Контекстный сбор данных.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​Блок А: розничный рынок.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​Блок B: спецификации масел.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13334695" y="3143707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 txBox="1"/>
          <p:nvPr/>
        </p:nvSpPr>
        <p:spPr>
          <a:xfrm>
            <a:off x="13334695" y="3143707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4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4029639" y="3167482"/>
            <a:ext cx="448056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Синтез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3334695" y="3486607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Декомпозиция + Wiki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13226898" y="3878885"/>
            <a:ext cx="37279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​Систематизация базы знаний.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​Изоляция фактов от гипотез.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​Разделение баз S2 и V1.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333195" y="6191402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 txBox="1"/>
          <p:nvPr/>
        </p:nvSpPr>
        <p:spPr>
          <a:xfrm>
            <a:off x="1333195" y="6191402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5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2028139" y="6215177"/>
            <a:ext cx="381305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Аудит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333195" y="6534302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PGMM &amp; ODSA</a:t>
            </a:r>
            <a:endParaRPr lang="en-US" sz="1900" dirty="0"/>
          </a:p>
        </p:txBody>
      </p:sp>
      <p:sp>
        <p:nvSpPr>
          <p:cNvPr id="48" name="Text 46"/>
          <p:cNvSpPr txBox="1"/>
          <p:nvPr/>
        </p:nvSpPr>
        <p:spPr>
          <a:xfrm>
            <a:off x="1225398" y="6926580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​Анализ позиционирования.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​Выявление гэпов этикеток.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​Аудит лицевых спецификаций.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5333695" y="6191402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 txBox="1"/>
          <p:nvPr/>
        </p:nvSpPr>
        <p:spPr>
          <a:xfrm>
            <a:off x="5333695" y="6191402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6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028639" y="6215177"/>
            <a:ext cx="6007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Брендинг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333695" y="6534302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Бренд &amp; Архитектура</a:t>
            </a:r>
            <a:endParaRPr lang="en-US" sz="1900" dirty="0"/>
          </a:p>
        </p:txBody>
      </p:sp>
      <p:sp>
        <p:nvSpPr>
          <p:cNvPr id="53" name="Text 51"/>
          <p:cNvSpPr txBox="1"/>
          <p:nvPr/>
        </p:nvSpPr>
        <p:spPr>
          <a:xfrm>
            <a:off x="5333695" y="6926580"/>
            <a:ext cx="333390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названия ELITEN, защита товарного знака в ФИПС и проектирование структуры линеек.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334195" y="6191402"/>
            <a:ext cx="619049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5" name="Text 53"/>
          <p:cNvSpPr txBox="1"/>
          <p:nvPr/>
        </p:nvSpPr>
        <p:spPr>
          <a:xfrm>
            <a:off x="9334195" y="6191402"/>
            <a:ext cx="6199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Этап 7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0029139" y="6215177"/>
            <a:ext cx="600761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Прототип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9334195" y="6534302"/>
            <a:ext cx="33339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Front Mockups</a:t>
            </a:r>
            <a:endParaRPr lang="en-US" sz="1900" dirty="0"/>
          </a:p>
        </p:txBody>
      </p:sp>
      <p:sp>
        <p:nvSpPr>
          <p:cNvPr id="58" name="Text 56"/>
          <p:cNvSpPr txBox="1"/>
          <p:nvPr/>
        </p:nvSpPr>
        <p:spPr>
          <a:xfrm>
            <a:off x="9226398" y="6926580"/>
            <a:ext cx="3441700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​Отрисовка концептов в 3D.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​Визуализация систем.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​Проверка читаемости.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13334695" y="6191402"/>
            <a:ext cx="543154" cy="190195"/>
          </a:xfrm>
          <a:prstGeom prst="roundRect">
            <a:avLst>
              <a:gd name="adj" fmla="val 20192"/>
            </a:avLst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0" name="Text 58"/>
          <p:cNvSpPr txBox="1"/>
          <p:nvPr/>
        </p:nvSpPr>
        <p:spPr>
          <a:xfrm>
            <a:off x="13334695" y="6191402"/>
            <a:ext cx="54315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Финал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13951915" y="6215177"/>
            <a:ext cx="30541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План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3334695" y="6534302"/>
            <a:ext cx="36201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Синтез &amp; Roadmap</a:t>
            </a:r>
            <a:endParaRPr lang="en-US" sz="1900" dirty="0"/>
          </a:p>
        </p:txBody>
      </p:sp>
      <p:sp>
        <p:nvSpPr>
          <p:cNvPr id="63" name="Text 61"/>
          <p:cNvSpPr txBox="1"/>
          <p:nvPr/>
        </p:nvSpPr>
        <p:spPr>
          <a:xfrm>
            <a:off x="13226898" y="6926580"/>
            <a:ext cx="37279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​Сведение результатов в Roadmap.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​Формирование чеклиста.</a:t>
            </a:r>
            <a:endParaRPr lang="en-US" sz="1500" dirty="0"/>
          </a:p>
          <a:p>
            <a:pPr marL="241300" indent="-241300" algn="l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​Подготовка к защите.</a:t>
            </a:r>
            <a:endParaRPr lang="en-US" sz="15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2952598" cy="5715000"/>
          </a:xfrm>
          <a:prstGeom prst="roundRect">
            <a:avLst>
              <a:gd name="adj" fmla="val 130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2952598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381805" y="2952598"/>
            <a:ext cx="2952598" cy="5715000"/>
          </a:xfrm>
          <a:prstGeom prst="roundRect">
            <a:avLst>
              <a:gd name="adj" fmla="val 130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4381805" y="2952598"/>
            <a:ext cx="2952598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7619695" y="2952598"/>
            <a:ext cx="3143707" cy="5715000"/>
          </a:xfrm>
          <a:prstGeom prst="roundRect">
            <a:avLst>
              <a:gd name="adj" fmla="val 1222"/>
            </a:avLst>
          </a:prstGeom>
          <a:solidFill>
            <a:srgbClr val="131B2E"/>
          </a:solidFill>
          <a:ln w="25400">
            <a:solidFill>
              <a:srgbClr val="0ABAB5"/>
            </a:solidFill>
            <a:prstDash val="solid"/>
          </a:ln>
          <a:effectLst>
            <a:outerShdw blurRad="101600" dist="12700" dir="16200000" algn="bl" rotWithShape="0">
              <a:srgbClr val="00F294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1048695" y="2952598"/>
            <a:ext cx="2952598" cy="5715000"/>
          </a:xfrm>
          <a:prstGeom prst="roundRect">
            <a:avLst>
              <a:gd name="adj" fmla="val 130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1048695" y="2952598"/>
            <a:ext cx="2952598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4287500" y="2952598"/>
            <a:ext cx="2857500" cy="5715000"/>
          </a:xfrm>
          <a:prstGeom prst="roundRect">
            <a:avLst>
              <a:gd name="adj" fmla="val 1344"/>
            </a:avLst>
          </a:prstGeom>
          <a:solidFill>
            <a:srgbClr val="008080"/>
          </a:solidFill>
          <a:ln w="12700">
            <a:solidFill>
              <a:srgbClr val="0ABAB5"/>
            </a:solidFill>
            <a:prstDash val="solid"/>
          </a:ln>
          <a:effectLst>
            <a:outerShdw blurRad="139700" dist="12700" dir="16200000" algn="bl" rotWithShape="0">
              <a:srgbClr val="00F294">
                <a:alpha val="1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Слои доказательности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Разделение и субординация слоёв доказательности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Методологическая дисциплина проекта: предотвращение смешения разных типов данных и жесткая изоляция гипотез от доказанных фактов.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33195" y="3495751"/>
            <a:ext cx="2572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63498" y="3865169"/>
            <a:ext cx="2641905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​Рынок и бренды.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​Розничный срез S2 (2023 г.).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​Определение емкости розницы.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33195" y="3161995"/>
            <a:ext cx="543154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1333195" y="3161995"/>
            <a:ext cx="5431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Слой 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3495751"/>
            <a:ext cx="2572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B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02302" y="3865169"/>
            <a:ext cx="26419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​SAE и вязкости.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​Структура долей в рознице.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​Тренды 0W-20 / 10W-40.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3161995"/>
            <a:ext cx="543154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 txBox="1"/>
          <p:nvPr/>
        </p:nvSpPr>
        <p:spPr>
          <a:xfrm>
            <a:off x="4572000" y="3161995"/>
            <a:ext cx="5431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Слой B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810805" y="3495751"/>
            <a:ext cx="2762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S2/V1 Правило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41107" y="3865169"/>
            <a:ext cx="28321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S2</a:t>
            </a: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Уровень.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V1</a:t>
            </a: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Тренд.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​Базы не смешиваются.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r>
              <a:rPr lang="en-US" sz="13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Приоритет S2</a:t>
            </a: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при расхождениях.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10805" y="3161995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 txBox="1"/>
          <p:nvPr/>
        </p:nvSpPr>
        <p:spPr>
          <a:xfrm>
            <a:off x="7810805" y="3161995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Стык данных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239805" y="3495751"/>
            <a:ext cx="2572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PGMM &amp; ODSA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1170107" y="3865169"/>
            <a:ext cx="26419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​Позиционирование.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​Анализ коммуникации марок.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​Проектирование ниши.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1239805" y="3161995"/>
            <a:ext cx="543154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 txBox="1"/>
          <p:nvPr/>
        </p:nvSpPr>
        <p:spPr>
          <a:xfrm>
            <a:off x="11239805" y="3161995"/>
            <a:ext cx="543154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Слой C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4477695" y="3504895"/>
            <a:ext cx="24771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Concept Mockups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4407998" y="3874313"/>
            <a:ext cx="25468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​Прототипы упаковки.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​Концептуальные эскизы.</a:t>
            </a:r>
            <a:endParaRPr lang="en-US" sz="1300" dirty="0"/>
          </a:p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​Визуальный сигнал.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4477695" y="3152851"/>
            <a:ext cx="562356" cy="181051"/>
          </a:xfrm>
          <a:prstGeom prst="roundRect">
            <a:avLst>
              <a:gd name="adj" fmla="val 21212"/>
            </a:avLst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 txBox="1"/>
          <p:nvPr/>
        </p:nvSpPr>
        <p:spPr>
          <a:xfrm>
            <a:off x="14477695" y="3152851"/>
            <a:ext cx="56235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Слой D</a:t>
            </a:r>
            <a:endParaRPr lang="en-US" sz="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9905695" cy="5524805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990569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1430000" y="2952598"/>
            <a:ext cx="5715000" cy="1714500"/>
          </a:xfrm>
          <a:prstGeom prst="roundRect">
            <a:avLst>
              <a:gd name="adj" fmla="val 224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1430000" y="2952598"/>
            <a:ext cx="47549" cy="1714500"/>
          </a:xfrm>
          <a:prstGeom prst="roundRect">
            <a:avLst>
              <a:gd name="adj" fmla="val 8076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1430000" y="4858207"/>
            <a:ext cx="5715000" cy="1714500"/>
          </a:xfrm>
          <a:prstGeom prst="roundRect">
            <a:avLst>
              <a:gd name="adj" fmla="val 224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1430000" y="4858207"/>
            <a:ext cx="47549" cy="1714500"/>
          </a:xfrm>
          <a:prstGeom prst="roundRect">
            <a:avLst>
              <a:gd name="adj" fmla="val 8076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1430000" y="6762902"/>
            <a:ext cx="5715000" cy="1714500"/>
          </a:xfrm>
          <a:prstGeom prst="roundRect">
            <a:avLst>
              <a:gd name="adj" fmla="val 2240"/>
            </a:avLst>
          </a:prstGeom>
          <a:solidFill>
            <a:srgbClr val="008080"/>
          </a:solidFill>
          <a:ln w="12700">
            <a:solidFill>
              <a:srgbClr val="0ABAB5"/>
            </a:solidFill>
            <a:prstDash val="solid"/>
          </a:ln>
          <a:effectLst>
            <a:outerShdw blurRad="101600" dist="12700" dir="16200000" algn="bl" rotWithShape="0">
              <a:srgbClr val="00F294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Исследование рынка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A: Контекст и структура розничного рынка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Анализ базовой структуры розничного рынка моторных масел (сегмент S2) на основе подтвержденного среза 2023 года.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3514954"/>
            <a:ext cx="9335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Подтверждённый розничный срез S2 (2023 г.)</a:t>
            </a:r>
            <a:endParaRPr lang="en-US" sz="2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29207" y="3986784"/>
          <a:ext cx="9335109" cy="3277212"/>
        </p:xfrm>
        <a:graphic>
          <a:graphicData uri="http://schemas.openxmlformats.org/drawingml/2006/table">
            <a:tbl>
              <a:tblPr/>
              <a:tblGrid>
                <a:gridCol w="15709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8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5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62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Бренд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рынка S2 (2023 г.)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Статус / Профиль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2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LUKOIL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18.1%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Абсолютный лидер розничного сегмента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2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Gazpromneft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10.5%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Второе место по объемам продаж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2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Rosneft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8.5%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Замыкает тройку лидеров РФ-производителей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2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ZIC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5.5%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Крупнейший импортный азиатский игрок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Shell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4.5%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5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Зарубежный бренд, уходящий с рынка РФ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5098" marR="95098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1429207" y="3191256"/>
            <a:ext cx="1248156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1429207" y="3191256"/>
            <a:ext cx="1248156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Лидеры розницы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667744" y="3143707"/>
            <a:ext cx="52395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Уход зарубежных операторов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1667744" y="3438144"/>
            <a:ext cx="5239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Уход Shell, ExxonMobil, Total, Castrol создал структурный вакуум в рознице.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1667744" y="5048402"/>
            <a:ext cx="52395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Резкий ценовой шок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1667744" y="5343754"/>
            <a:ext cx="5239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Удорожание фасовок 4L сместило потребительский выбор к альтернативам.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1667744" y="6953098"/>
            <a:ext cx="52395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Потенциал СТМ-решений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1667744" y="7248449"/>
            <a:ext cx="5239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Окно спроса открывает возможности для СТМ, но не гарантирует долю рынка автоматически.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Источник данных: Deep Research A, розничный срез рынка (Retail S2) за 2023 год. Сведения за 2024–2026 гг. отсутствуют в открытых базах (н/д).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7810805" cy="5524805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781080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9334195" y="2952598"/>
            <a:ext cx="7810805" cy="5524805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9334195" y="2952598"/>
            <a:ext cx="7810805" cy="38405"/>
          </a:xfrm>
          <a:prstGeom prst="roundRect">
            <a:avLst>
              <a:gd name="adj" fmla="val 9999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Динамика рынка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A: тренд aftermarket — динамика брендов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aftermarket-proxy · «кто растёт / кто падает» · после изменений 2022 г.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29207" y="3514954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Усиление рыночных позиций (2022 → 2023)</a:t>
            </a:r>
            <a:endParaRPr lang="en-US" sz="2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175621"/>
              </p:ext>
            </p:extLst>
          </p:nvPr>
        </p:nvGraphicFramePr>
        <p:xfrm>
          <a:off x="1429207" y="3986784"/>
          <a:ext cx="7238390" cy="3820362"/>
        </p:xfrm>
        <a:graphic>
          <a:graphicData uri="http://schemas.openxmlformats.org/drawingml/2006/table">
            <a:tbl>
              <a:tblPr/>
              <a:tblGrid>
                <a:gridCol w="361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67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Бренд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V1 (2022 → 2023)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LUKOIL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13,3% → 15,2%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ZIC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3,7% → 6,1%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SINTEC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3,9% → 4,7%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Rolf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3,4% → 3,9%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Kixx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2,9%</a:t>
                      </a:r>
                      <a:r>
                        <a:rPr lang="en-US" sz="18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 3,1%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1429207" y="3191256"/>
            <a:ext cx="1324051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 txBox="1"/>
          <p:nvPr/>
        </p:nvSpPr>
        <p:spPr>
          <a:xfrm>
            <a:off x="1429207" y="3191256"/>
            <a:ext cx="13240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Рост / Усиление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20402" y="3514954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Снижение и уход с рынка (2022 → 2023)</a:t>
            </a:r>
            <a:endParaRPr lang="en-US" sz="210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409538"/>
              </p:ext>
            </p:extLst>
          </p:nvPr>
        </p:nvGraphicFramePr>
        <p:xfrm>
          <a:off x="9620402" y="3986784"/>
          <a:ext cx="7238390" cy="3820362"/>
        </p:xfrm>
        <a:graphic>
          <a:graphicData uri="http://schemas.openxmlformats.org/drawingml/2006/table">
            <a:tbl>
              <a:tblPr/>
              <a:tblGrid>
                <a:gridCol w="3619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67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Бренд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Доля V1 (2022 → 2023)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Shell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11,7% → 5,6%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5,9% → 3,9%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Castrol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4,4% → 3,1%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8FAF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Total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ru-RU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4,3%</a:t>
                      </a:r>
                      <a:r>
                        <a:rPr lang="en-US" sz="1800" b="1" dirty="0">
                          <a:solidFill>
                            <a:srgbClr val="F43F5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→ 2,3%</a:t>
                      </a: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7549" marR="47549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9620402" y="3191256"/>
            <a:ext cx="1790395" cy="190195"/>
          </a:xfrm>
          <a:prstGeom prst="roundRect">
            <a:avLst>
              <a:gd name="adj" fmla="val 2019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 txBox="1"/>
          <p:nvPr/>
        </p:nvSpPr>
        <p:spPr>
          <a:xfrm>
            <a:off x="9620402" y="3191256"/>
            <a:ext cx="17913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Снижение / Ослабление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43000" y="871514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= proxy-динамика, не retail-</a:t>
            </a:r>
            <a:r>
              <a:rPr lang="en-US" sz="1200" dirty="0" err="1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якорь</a:t>
            </a: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ёмкости</a:t>
            </a:r>
            <a:endParaRPr lang="en-US" sz="12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16002000" cy="1714500"/>
          </a:xfrm>
          <a:prstGeom prst="roundRect">
            <a:avLst>
              <a:gd name="adj" fmla="val 2240"/>
            </a:avLst>
          </a:prstGeom>
          <a:solidFill>
            <a:srgbClr val="131B2E"/>
          </a:solidFill>
          <a:ln w="12700">
            <a:solidFill>
              <a:srgbClr val="0ABAB5"/>
            </a:solidFill>
            <a:prstDash val="solid"/>
          </a:ln>
          <a:effectLst>
            <a:outerShdw blurRad="139700" dist="12700" dir="16200000" algn="bl" rotWithShape="0">
              <a:srgbClr val="00F294">
                <a:alpha val="8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75895" cy="1714500"/>
          </a:xfrm>
          <a:prstGeom prst="roundRect">
            <a:avLst>
              <a:gd name="adj" fmla="val 50603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143000" y="4953305"/>
            <a:ext cx="7810805" cy="3905402"/>
          </a:xfrm>
          <a:prstGeom prst="roundRect">
            <a:avLst>
              <a:gd name="adj" fmla="val 9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143000" y="4953305"/>
            <a:ext cx="781080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9334195" y="4953305"/>
            <a:ext cx="7810805" cy="3905402"/>
          </a:xfrm>
          <a:prstGeom prst="roundRect">
            <a:avLst>
              <a:gd name="adj" fmla="val 9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9334195" y="4953305"/>
            <a:ext cx="7810805" cy="38405"/>
          </a:xfrm>
          <a:prstGeom prst="roundRect">
            <a:avLst>
              <a:gd name="adj" fmla="val 9999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Методологическая субординация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Фундаментальная субординация данных: Правило S2 / V1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Методологическая дисциплина проекта запрещает объединение или смешение разнородных баз данных.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524305" y="3238805"/>
            <a:ext cx="15240305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0ABA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S2(Retail) = уровень · V1(Aftermarket) = тренд · не смешивать · при расхождении — S2</a:t>
            </a:r>
            <a:endParaRPr lang="en-US" sz="31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5562295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S2 (Retail) — Розничный уровень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378102" y="6035040"/>
            <a:ext cx="729041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​Отражает верифицированный уровень емкости рынка.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​Розничная емкость рынка моторных масел РФ: </a:t>
            </a:r>
            <a:r>
              <a:rPr lang="en-US" sz="15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278 млн литров</a:t>
            </a: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​Единственный источник для расчета розничных объемов и долей.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29207" y="5238598"/>
            <a:ext cx="1086307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 txBox="1"/>
          <p:nvPr/>
        </p:nvSpPr>
        <p:spPr>
          <a:xfrm>
            <a:off x="1429207" y="5238598"/>
            <a:ext cx="10863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Якорь уровня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620402" y="5581498"/>
            <a:ext cx="7239305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V1 (Aftermarket) — Векторный тренд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9569298" y="6054242"/>
            <a:ext cx="729041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​Вспомогательный прокси-слой рыночной динамики после 2022 года.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​Показывает относительные направления смещения спроса.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</a:t>
            </a: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Запрещено:</a:t>
            </a: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использовать в качестве розничного якоря емкости.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20402" y="5238598"/>
            <a:ext cx="1571854" cy="209398"/>
          </a:xfrm>
          <a:prstGeom prst="roundRect">
            <a:avLst>
              <a:gd name="adj" fmla="val 18341"/>
            </a:avLst>
          </a:prstGeom>
          <a:noFill/>
          <a:ln w="12700">
            <a:solidFill>
              <a:srgbClr val="0ABAB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9620402" y="5238598"/>
            <a:ext cx="1571854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F8FAF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Индикатор динамики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1435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1435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91440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0ABAB5">
              <a:alpha val="8000"/>
            </a:srgbClr>
          </a:solidFill>
          <a:ln w="12700">
            <a:solidFill>
              <a:srgbClr val="0ABAB5"/>
            </a:solidFill>
            <a:prstDash val="solid"/>
          </a:ln>
          <a:effectLst>
            <a:outerShdw blurRad="101600" dist="12700" dir="16200000" algn="bl" rotWithShape="0">
              <a:srgbClr val="00F294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91440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13144500" y="2952598"/>
            <a:ext cx="4000500" cy="5619902"/>
          </a:xfrm>
          <a:prstGeom prst="roundRect">
            <a:avLst>
              <a:gd name="adj" fmla="val 96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3144500" y="2952598"/>
            <a:ext cx="4000500" cy="38405"/>
          </a:xfrm>
          <a:prstGeom prst="roundRect">
            <a:avLst>
              <a:gd name="adj" fmla="val 9999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Продуктовый анализ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143000"/>
            <a:ext cx="16613734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Deep Research B: Структура спроса по классам вязкости SAE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Аналитический срез потребительских предпочтений и динамических драйверов роста вязкостей в РФ.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807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5W-30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380744" y="4573829"/>
            <a:ext cx="328635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Доля в срезе 1П2023.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Базовое ядро в сегменте Synthetic Retail (45.9%). Основной стандарт современных азиатских и европейских предписаний.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380744" y="3209544"/>
            <a:ext cx="14767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1380744" y="3209544"/>
            <a:ext cx="14767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Массовое ядро (OEM)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3954780"/>
            <a:ext cx="962863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~35%</a:t>
            </a:r>
            <a:endParaRPr lang="en-US" sz="3100" dirty="0"/>
          </a:p>
        </p:txBody>
      </p:sp>
      <p:sp>
        <p:nvSpPr>
          <p:cNvPr id="22" name="Text 20"/>
          <p:cNvSpPr txBox="1"/>
          <p:nvPr/>
        </p:nvSpPr>
        <p:spPr>
          <a:xfrm>
            <a:off x="53812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5W-40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381244" y="4573829"/>
            <a:ext cx="328635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Доля в срезе 1П2023.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Формирует вторую доминанту ядра Synthetic Retail (51.0%). Выбор для широкого парка прошлых поколений автомобилей.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381244" y="3209544"/>
            <a:ext cx="17620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5381244" y="3209544"/>
            <a:ext cx="17629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Массовое ядро (Classic)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5381244" y="3954780"/>
            <a:ext cx="962863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~32%</a:t>
            </a:r>
            <a:endParaRPr lang="en-US" sz="3100" dirty="0"/>
          </a:p>
        </p:txBody>
      </p:sp>
      <p:sp>
        <p:nvSpPr>
          <p:cNvPr id="27" name="Text 25"/>
          <p:cNvSpPr txBox="1"/>
          <p:nvPr/>
        </p:nvSpPr>
        <p:spPr>
          <a:xfrm>
            <a:off x="93817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ABA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0W-20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381744" y="4573829"/>
            <a:ext cx="3286354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Fastest Growth (2025 г.).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Спад зимних 0W-XX в Москве до 4%. Однако 0W-20 вырос на +10.1% в литрах и +16% в деньгах. Лидер роста по B2X 2026.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381744" y="3209544"/>
            <a:ext cx="1047902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 txBox="1"/>
          <p:nvPr/>
        </p:nvSpPr>
        <p:spPr>
          <a:xfrm>
            <a:off x="9381744" y="3209544"/>
            <a:ext cx="1047902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Драйвер роста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381744" y="3954780"/>
            <a:ext cx="1448410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+10.1%</a:t>
            </a:r>
            <a:endParaRPr lang="en-US" sz="3100" dirty="0"/>
          </a:p>
        </p:txBody>
      </p:sp>
      <p:sp>
        <p:nvSpPr>
          <p:cNvPr id="32" name="Text 30"/>
          <p:cNvSpPr txBox="1"/>
          <p:nvPr/>
        </p:nvSpPr>
        <p:spPr>
          <a:xfrm>
            <a:off x="13382244" y="3543300"/>
            <a:ext cx="3525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4A3B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10W-40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3382244" y="4573829"/>
            <a:ext cx="35250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контраст.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Достигает 49% объема в ЮФО против всего 17% в Москве и МО. Угасающее наследие (declining legacy) для охвата.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3382244" y="3209544"/>
            <a:ext cx="1257300" cy="161849"/>
          </a:xfrm>
          <a:prstGeom prst="roundRect">
            <a:avLst>
              <a:gd name="adj" fmla="val 23729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 txBox="1"/>
          <p:nvPr/>
        </p:nvSpPr>
        <p:spPr>
          <a:xfrm>
            <a:off x="13382244" y="3209544"/>
            <a:ext cx="125730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Нишевое покрытие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3382244" y="3954780"/>
            <a:ext cx="2162556" cy="467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49% / 17%</a:t>
            </a:r>
            <a:endParaRPr lang="en-US" sz="3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7715707" cy="5619902"/>
          </a:xfrm>
          <a:prstGeom prst="roundRect">
            <a:avLst>
              <a:gd name="adj" fmla="val 6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77157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9144000" y="2952598"/>
            <a:ext cx="8001000" cy="5619902"/>
          </a:xfrm>
          <a:prstGeom prst="roundRect">
            <a:avLst>
              <a:gd name="adj" fmla="val 6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9144000" y="2952598"/>
            <a:ext cx="8001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Архитектура линейки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Бимодальная структура линейки ELITEN: 4 SKU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Проектирование оптимального портфеля продуктов на основе анализа рыночных вязкостей (Deep Research B) и логики OST/RBS.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429207" y="3543300"/>
            <a:ext cx="7625182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Classic Protect — Массовое и Legacy-покрытие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429207" y="5016398"/>
            <a:ext cx="7144207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 txBox="1"/>
          <p:nvPr/>
        </p:nvSpPr>
        <p:spPr>
          <a:xfrm>
            <a:off x="1429207" y="4292194"/>
            <a:ext cx="71442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Массовое синтетическое ядро (доля ~32%). Выбор для широкого парка легковых авто.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5454396"/>
            <a:ext cx="7830007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Географический охват. Востребовано преимущественно в ЮФО (доля до 49%).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29207" y="3209544"/>
            <a:ext cx="6190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1429207" y="3209544"/>
            <a:ext cx="6199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Ветка 1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429207" y="4016045"/>
            <a:ext cx="3781958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1 · 5W-40 (Synthetic Core)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29207" y="5177333"/>
            <a:ext cx="40297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2 · 10W-40 (Legacy Coverage)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430207" y="3543300"/>
            <a:ext cx="74295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Modern Tech — Высокотехнологичные и OEM решения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430207" y="5336438"/>
            <a:ext cx="74295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9430207" y="4612234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Универсальный стандарт для азиатских и европейских двигателей последних поколений.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430207" y="5773522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Технологический лидер роста (+10.1% в литрах). Ориентирован на новейший китайский импорт.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30207" y="3209544"/>
            <a:ext cx="6190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 txBox="1"/>
          <p:nvPr/>
        </p:nvSpPr>
        <p:spPr>
          <a:xfrm>
            <a:off x="9430207" y="3209544"/>
            <a:ext cx="6199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Ветка 2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9430207" y="4336085"/>
            <a:ext cx="327721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3 · 5W-30 (Core / OEM)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30207" y="5497373"/>
            <a:ext cx="47823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SKU 4 · 0W-20 (Growth / Future Driver)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Проектная гипотеза линейки масел. Требуется детальная верификация паспортов качества TDS и технических спецификаций (API/OEM/FIPS).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4858207" cy="5619902"/>
          </a:xfrm>
          <a:prstGeom prst="roundRect">
            <a:avLst>
              <a:gd name="adj" fmla="val 79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4858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6381598" y="2952598"/>
            <a:ext cx="4858207" cy="5619902"/>
          </a:xfrm>
          <a:prstGeom prst="roundRect">
            <a:avLst>
              <a:gd name="adj" fmla="val 79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6381598" y="2952598"/>
            <a:ext cx="4858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1620195" y="2952598"/>
            <a:ext cx="5524805" cy="5619902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1620195" y="2952598"/>
            <a:ext cx="5524805" cy="38405"/>
          </a:xfrm>
          <a:prstGeom prst="roundRect">
            <a:avLst>
              <a:gd name="adj" fmla="val 99999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Конкурентный анализ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Аудит PGMM / ODSA: Выявление коммуникационных разрывов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Анализ позиционирования и упаковки ключевых рыночных конкурентов для определения рыночной лакуны.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80744" y="3543300"/>
            <a:ext cx="438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Массовые конкуренты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311046" y="4230929"/>
            <a:ext cx="445150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​LUKOIL LUXE · Gazpromneft Premium N · Mobil Super 3000 x1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0744" y="4901184"/>
            <a:ext cx="438180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Наблюдение аудита: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 на «armor-риторике» (броня, защита). OEM/API информация вынесена на заднюю этикетку мелким нечитаемым шрифтом.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380744" y="3209544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 txBox="1"/>
          <p:nvPr/>
        </p:nvSpPr>
        <p:spPr>
          <a:xfrm>
            <a:off x="1380744" y="3209544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Срез 5W-40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380744" y="3954780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Согласованные оппоненты: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620256" y="3543300"/>
            <a:ext cx="4381805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Высокотехнологичный сегмент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549644" y="4230929"/>
            <a:ext cx="445150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​Mobil 1 · Castrol EDGE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20256" y="4661611"/>
            <a:ext cx="4381805" cy="142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Наблюдение аудита: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Сложные и многочисленные клеймы («claims gap») мешают быстрому выбору. Затруднено считывание китайских и современных стандартов.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0256" y="3209544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6620256" y="3209544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Срез 0W-20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620256" y="3954780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Согласованные оппоненты: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858854" y="3543300"/>
            <a:ext cx="504840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Нишевое наследие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11789156" y="4230929"/>
            <a:ext cx="58039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203200" indent="-203200" algn="l">
              <a:buSzPct val="100000"/>
              <a:buChar char="•"/>
            </a:pPr>
            <a:r>
              <a:rPr lang="en-US" sz="1300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​LUKOIL SUPER · Gazpromneft Super · Mobil Super 2000 x1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858854" y="4661611"/>
            <a:ext cx="50484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Наблюдение аудита (White Space):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Сегмент визуально маргинализирован. Игнорируются требования эргономики (1L gap). Выявлена лакуна для понятной навигации.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858854" y="3209544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 txBox="1"/>
          <p:nvPr/>
        </p:nvSpPr>
        <p:spPr>
          <a:xfrm>
            <a:off x="11858854" y="3209544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Срез 10W-40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11858854" y="3954780"/>
            <a:ext cx="24771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Согласованные оппоненты: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Методологии аудита: PGMM (Product Grid Market Mapping) и ODSA (On-Demand Spec Audit). Выявлен дефицит «читаемых спецификаций» (readable spec gap).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9905695" cy="1904695"/>
          </a:xfrm>
          <a:prstGeom prst="roundRect">
            <a:avLst>
              <a:gd name="adj" fmla="val 2016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  <a:effectLst>
            <a:outerShdw blurRad="139700" dist="12700" dir="16200000" algn="bl" rotWithShape="0">
              <a:srgbClr val="0ABAB5">
                <a:alpha val="5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75895" cy="1904695"/>
          </a:xfrm>
          <a:prstGeom prst="roundRect">
            <a:avLst>
              <a:gd name="adj" fmla="val 50603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1143000" y="5143500"/>
            <a:ext cx="9905695" cy="3429000"/>
          </a:xfrm>
          <a:prstGeom prst="roundRect">
            <a:avLst>
              <a:gd name="adj" fmla="val 112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143000" y="5143500"/>
            <a:ext cx="990569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1334902" y="2952598"/>
            <a:ext cx="5810098" cy="5619902"/>
          </a:xfrm>
          <a:prstGeom prst="roundRect">
            <a:avLst>
              <a:gd name="adj" fmla="val 68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1334902" y="2952598"/>
            <a:ext cx="5810098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Концепция бренда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Архитектура бренда ELITEN: Инженерный зонтик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Переход от абстрактного маркетинга к жесткой и понятной технической навигации.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429207" y="3476549"/>
            <a:ext cx="93351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BAB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ELITEN — это инженерный зонтик понятного выбора продукта под задачу покупателя.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429207" y="4264762"/>
            <a:ext cx="100209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Полный отказ от ложного пафоса («false premium») и обещаний элитарного стиля жизни.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29207" y="3191256"/>
            <a:ext cx="1399946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1429207" y="3191256"/>
            <a:ext cx="140086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Позиционирование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429207" y="5705856"/>
            <a:ext cx="9335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Проектная рамка качества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365402" y="6140196"/>
            <a:ext cx="939800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​Качественная базовая основа и строго выверенные пакеты присадок от мировых лидеров.</a:t>
            </a:r>
            <a:endParaRPr lang="en-US" sz="1600" dirty="0"/>
          </a:p>
          <a:p>
            <a:pPr marL="254000" indent="-254000" algn="l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​Прозрачность характеристик и понятная логика readable spec на лицевой этикетке.</a:t>
            </a:r>
            <a:endParaRPr lang="en-US" sz="1600" dirty="0"/>
          </a:p>
          <a:p>
            <a:pPr marL="254000" indent="-254000" algn="l">
              <a:spcAft>
                <a:spcPts val="750"/>
              </a:spcAft>
              <a:buSzPct val="100000"/>
              <a:buChar char="•"/>
            </a:pPr>
            <a:r>
              <a:rPr lang="en-US" sz="1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​Четкое визуальное и продуктовое разделение серий Classic и Modern.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29207" y="5381244"/>
            <a:ext cx="1867205" cy="190195"/>
          </a:xfrm>
          <a:prstGeom prst="roundRect">
            <a:avLst>
              <a:gd name="adj" fmla="val 20192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 txBox="1"/>
          <p:nvPr/>
        </p:nvSpPr>
        <p:spPr>
          <a:xfrm>
            <a:off x="1429207" y="5381244"/>
            <a:ext cx="18672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Продукт и спецификации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572646" y="3552444"/>
            <a:ext cx="53346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Защита товарного знака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1572646" y="4892040"/>
            <a:ext cx="5333695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 txBox="1"/>
          <p:nvPr/>
        </p:nvSpPr>
        <p:spPr>
          <a:xfrm>
            <a:off x="11572646" y="4253789"/>
            <a:ext cx="5334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Зарегистрировано по классу 04 МКТУ с приоритетом от 03.12.2025. Опорный защитный барьер бренда.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1572646" y="5904281"/>
            <a:ext cx="5333695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 txBox="1"/>
          <p:nvPr/>
        </p:nvSpPr>
        <p:spPr>
          <a:xfrm>
            <a:off x="11572646" y="5265115"/>
            <a:ext cx="5334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Названия Verum и Calibr использовались как исследовательские варианты при проверках.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572646" y="6276442"/>
            <a:ext cx="533461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Наличие товарного знака является обязательным слоем защиты, но не эквивалентно автоматическому разрешению на продажи.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1572646" y="3191256"/>
            <a:ext cx="1009498" cy="190195"/>
          </a:xfrm>
          <a:prstGeom prst="roundRect">
            <a:avLst>
              <a:gd name="adj" fmla="val 20192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 txBox="1"/>
          <p:nvPr/>
        </p:nvSpPr>
        <p:spPr>
          <a:xfrm>
            <a:off x="11572646" y="3191256"/>
            <a:ext cx="10104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76200" tIns="25400" rIns="76200" bIns="25400" rtlCol="0" anchor="ctr"/>
          <a:lstStyle/>
          <a:p>
            <a:pPr marL="0" indent="0" algn="l">
              <a:buNone/>
            </a:pPr>
            <a:r>
              <a:rPr lang="en-US" sz="900" b="1" kern="0" spc="7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Проверка IP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72646" y="3986784"/>
            <a:ext cx="206745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ТЗ RU 1172689 ФИПС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1572646" y="5027371"/>
            <a:ext cx="1648663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DDx-альтернативы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572646" y="6038698"/>
            <a:ext cx="1752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Юридическая рамка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" y="9001354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ТЗ ≠ разрешение на продажу · TDS/back label — pre-launch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762402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143500" y="2762402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9144000" y="2762402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13144500" y="2762402"/>
            <a:ext cx="4000500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143000" y="5905195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0ABAB5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5143500" y="5905195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0ABAB5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9144000" y="5905195"/>
            <a:ext cx="3715207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0ABAB5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13144500" y="5905195"/>
            <a:ext cx="4000500" cy="2952598"/>
          </a:xfrm>
          <a:prstGeom prst="roundRect">
            <a:avLst>
              <a:gd name="adj" fmla="val 2570"/>
            </a:avLst>
          </a:prstGeom>
          <a:solidFill>
            <a:srgbClr val="131B2E"/>
          </a:solidFill>
          <a:ln w="12700">
            <a:solidFill>
              <a:srgbClr val="0ABAB5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0" descr="gen-dedup-84487b3cb848b2d43162c4d8e61339f7.jpg"/>
          <p:cNvPicPr>
            <a:picLocks noChangeAspect="1"/>
          </p:cNvPicPr>
          <p:nvPr/>
        </p:nvPicPr>
        <p:blipFill>
          <a:blip r:embed="rId3"/>
          <a:srcRect t="-10456" b="-10456"/>
          <a:stretch/>
        </p:blipFill>
        <p:spPr>
          <a:xfrm>
            <a:off x="1285646" y="2905049"/>
            <a:ext cx="1714500" cy="2667305"/>
          </a:xfrm>
          <a:prstGeom prst="rect">
            <a:avLst/>
          </a:prstGeom>
        </p:spPr>
      </p:pic>
      <p:pic>
        <p:nvPicPr>
          <p:cNvPr id="15" name="Image 1" descr="gen-dedup-cb388fce3c2e997b4a6325238c8eaed3.jpg"/>
          <p:cNvPicPr>
            <a:picLocks noChangeAspect="1"/>
          </p:cNvPicPr>
          <p:nvPr/>
        </p:nvPicPr>
        <p:blipFill>
          <a:blip r:embed="rId4"/>
          <a:srcRect t="-10456" b="-10456"/>
          <a:stretch/>
        </p:blipFill>
        <p:spPr>
          <a:xfrm>
            <a:off x="5286146" y="2905049"/>
            <a:ext cx="1714500" cy="2667305"/>
          </a:xfrm>
          <a:prstGeom prst="rect">
            <a:avLst/>
          </a:prstGeom>
        </p:spPr>
      </p:pic>
      <p:pic>
        <p:nvPicPr>
          <p:cNvPr id="16" name="Image 2" descr="gen-dedup-c1c30ed26c4a9faa6a3e401b0f8a1d6a.jpg"/>
          <p:cNvPicPr>
            <a:picLocks noChangeAspect="1"/>
          </p:cNvPicPr>
          <p:nvPr/>
        </p:nvPicPr>
        <p:blipFill>
          <a:blip r:embed="rId5"/>
          <a:srcRect t="-10456" b="-10456"/>
          <a:stretch/>
        </p:blipFill>
        <p:spPr>
          <a:xfrm>
            <a:off x="9286646" y="2905049"/>
            <a:ext cx="1714500" cy="2667305"/>
          </a:xfrm>
          <a:prstGeom prst="rect">
            <a:avLst/>
          </a:prstGeom>
        </p:spPr>
      </p:pic>
      <p:pic>
        <p:nvPicPr>
          <p:cNvPr id="17" name="Image 3" descr="gen-dedup-d099dbe4f762d9a20162c1524705e1c1.jpg"/>
          <p:cNvPicPr>
            <a:picLocks noChangeAspect="1"/>
          </p:cNvPicPr>
          <p:nvPr/>
        </p:nvPicPr>
        <p:blipFill>
          <a:blip r:embed="rId6"/>
          <a:srcRect t="-10456" b="-10456"/>
          <a:stretch/>
        </p:blipFill>
        <p:spPr>
          <a:xfrm>
            <a:off x="13287146" y="2905049"/>
            <a:ext cx="1714500" cy="2667305"/>
          </a:xfrm>
          <a:prstGeom prst="rect">
            <a:avLst/>
          </a:prstGeom>
        </p:spPr>
      </p:pic>
      <p:pic>
        <p:nvPicPr>
          <p:cNvPr id="18" name="Image 4" descr="gen-dedup-196407e6ed13983df91a6cf3c939dd72.jpg"/>
          <p:cNvPicPr>
            <a:picLocks noChangeAspect="1"/>
          </p:cNvPicPr>
          <p:nvPr/>
        </p:nvPicPr>
        <p:blipFill>
          <a:blip r:embed="rId7"/>
          <a:srcRect t="-10456" b="-10456"/>
          <a:stretch/>
        </p:blipFill>
        <p:spPr>
          <a:xfrm>
            <a:off x="1333195" y="6048756"/>
            <a:ext cx="1714500" cy="2667305"/>
          </a:xfrm>
          <a:prstGeom prst="rect">
            <a:avLst/>
          </a:prstGeom>
        </p:spPr>
      </p:pic>
      <p:pic>
        <p:nvPicPr>
          <p:cNvPr id="19" name="Image 5" descr="gen-dedup-038450332f4648abbc2bd1af0c8d9581.jpg"/>
          <p:cNvPicPr>
            <a:picLocks noChangeAspect="1"/>
          </p:cNvPicPr>
          <p:nvPr/>
        </p:nvPicPr>
        <p:blipFill>
          <a:blip r:embed="rId8"/>
          <a:srcRect t="-10456" b="-10456"/>
          <a:stretch/>
        </p:blipFill>
        <p:spPr>
          <a:xfrm>
            <a:off x="5333695" y="6048756"/>
            <a:ext cx="1714500" cy="2667305"/>
          </a:xfrm>
          <a:prstGeom prst="rect">
            <a:avLst/>
          </a:prstGeom>
        </p:spPr>
      </p:pic>
      <p:pic>
        <p:nvPicPr>
          <p:cNvPr id="20" name="Image 6" descr="gen-dedup-c6ead9d37b55d7683f18a83a72902776.jpg"/>
          <p:cNvPicPr>
            <a:picLocks noChangeAspect="1"/>
          </p:cNvPicPr>
          <p:nvPr/>
        </p:nvPicPr>
        <p:blipFill>
          <a:blip r:embed="rId9"/>
          <a:srcRect t="-10456" b="-10456"/>
          <a:stretch/>
        </p:blipFill>
        <p:spPr>
          <a:xfrm>
            <a:off x="9334195" y="6048756"/>
            <a:ext cx="1714500" cy="2667305"/>
          </a:xfrm>
          <a:prstGeom prst="rect">
            <a:avLst/>
          </a:prstGeom>
        </p:spPr>
      </p:pic>
      <p:pic>
        <p:nvPicPr>
          <p:cNvPr id="21" name="Image 7" descr="gen-dedup-bacc1b55f1abbeb62888e8079bf34cc7.jpg"/>
          <p:cNvPicPr>
            <a:picLocks noChangeAspect="1"/>
          </p:cNvPicPr>
          <p:nvPr/>
        </p:nvPicPr>
        <p:blipFill>
          <a:blip r:embed="rId10"/>
          <a:srcRect t="-10456" b="-10456"/>
          <a:stretch/>
        </p:blipFill>
        <p:spPr>
          <a:xfrm>
            <a:off x="13334695" y="6048756"/>
            <a:ext cx="1714500" cy="266730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· Визуальные концепты</a:t>
            </a:r>
            <a:endParaRPr lang="en-US" sz="1200" dirty="0"/>
          </a:p>
        </p:txBody>
      </p:sp>
      <p:sp>
        <p:nvSpPr>
          <p:cNvPr id="23" name="Text 13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Визуальные концепты упаковок (Concept Front Mockups)</a:t>
            </a:r>
            <a:endParaRPr lang="en-US" sz="3600" dirty="0"/>
          </a:p>
        </p:txBody>
      </p:sp>
      <p:sp>
        <p:nvSpPr>
          <p:cNvPr id="24" name="Text 14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Прототипирование дизайн-системы для двух ветвей бренда на графитовом носителе с выделенной зоной спецификаций.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3095244" y="3314700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26" name="Text 16"/>
          <p:cNvSpPr txBox="1"/>
          <p:nvPr/>
        </p:nvSpPr>
        <p:spPr>
          <a:xfrm>
            <a:off x="3095244" y="3874313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5W-40 4L</a:t>
            </a:r>
            <a:endParaRPr lang="en-US" sz="1500" dirty="0"/>
          </a:p>
        </p:txBody>
      </p:sp>
      <p:sp>
        <p:nvSpPr>
          <p:cNvPr id="27" name="Text 17"/>
          <p:cNvSpPr txBox="1"/>
          <p:nvPr/>
        </p:nvSpPr>
        <p:spPr>
          <a:xfrm>
            <a:off x="3095244" y="4217213"/>
            <a:ext cx="177942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Синтетическая основа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3095244" y="3019349"/>
            <a:ext cx="11905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19"/>
          <p:cNvSpPr txBox="1"/>
          <p:nvPr/>
        </p:nvSpPr>
        <p:spPr>
          <a:xfrm>
            <a:off x="3095244" y="3019349"/>
            <a:ext cx="11914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Classic Protect</a:t>
            </a:r>
            <a:endParaRPr lang="en-US" sz="800" dirty="0"/>
          </a:p>
        </p:txBody>
      </p:sp>
      <p:sp>
        <p:nvSpPr>
          <p:cNvPr id="30" name="Text 20"/>
          <p:cNvSpPr txBox="1"/>
          <p:nvPr/>
        </p:nvSpPr>
        <p:spPr>
          <a:xfrm>
            <a:off x="7095744" y="3314700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31" name="Text 21"/>
          <p:cNvSpPr txBox="1"/>
          <p:nvPr/>
        </p:nvSpPr>
        <p:spPr>
          <a:xfrm>
            <a:off x="7095744" y="3874313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5W-40 1L</a:t>
            </a:r>
            <a:endParaRPr lang="en-US" sz="1500" dirty="0"/>
          </a:p>
        </p:txBody>
      </p:sp>
      <p:sp>
        <p:nvSpPr>
          <p:cNvPr id="32" name="Text 22"/>
          <p:cNvSpPr txBox="1"/>
          <p:nvPr/>
        </p:nvSpPr>
        <p:spPr>
          <a:xfrm>
            <a:off x="7095744" y="4217213"/>
            <a:ext cx="177942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Синтетическая основа</a:t>
            </a:r>
            <a:endParaRPr lang="en-US" sz="1100" dirty="0"/>
          </a:p>
        </p:txBody>
      </p:sp>
      <p:sp>
        <p:nvSpPr>
          <p:cNvPr id="33" name="Shape 23"/>
          <p:cNvSpPr/>
          <p:nvPr/>
        </p:nvSpPr>
        <p:spPr>
          <a:xfrm>
            <a:off x="7095744" y="3019349"/>
            <a:ext cx="11905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24"/>
          <p:cNvSpPr txBox="1"/>
          <p:nvPr/>
        </p:nvSpPr>
        <p:spPr>
          <a:xfrm>
            <a:off x="7095744" y="3019349"/>
            <a:ext cx="11914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Classic Protect</a:t>
            </a:r>
            <a:endParaRPr lang="en-US" sz="800" dirty="0"/>
          </a:p>
        </p:txBody>
      </p:sp>
      <p:sp>
        <p:nvSpPr>
          <p:cNvPr id="35" name="Text 25"/>
          <p:cNvSpPr txBox="1"/>
          <p:nvPr/>
        </p:nvSpPr>
        <p:spPr>
          <a:xfrm>
            <a:off x="11096244" y="3314700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36" name="Text 26"/>
          <p:cNvSpPr txBox="1"/>
          <p:nvPr/>
        </p:nvSpPr>
        <p:spPr>
          <a:xfrm>
            <a:off x="11096244" y="3874313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10W-40 4L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11096244" y="4217213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Полусинтетика ЮФО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11096244" y="3019349"/>
            <a:ext cx="11905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29"/>
          <p:cNvSpPr txBox="1"/>
          <p:nvPr/>
        </p:nvSpPr>
        <p:spPr>
          <a:xfrm>
            <a:off x="11096244" y="3019349"/>
            <a:ext cx="11914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Classic Protect</a:t>
            </a:r>
            <a:endParaRPr lang="en-US" sz="800" dirty="0"/>
          </a:p>
        </p:txBody>
      </p:sp>
      <p:sp>
        <p:nvSpPr>
          <p:cNvPr id="40" name="Text 30"/>
          <p:cNvSpPr txBox="1"/>
          <p:nvPr/>
        </p:nvSpPr>
        <p:spPr>
          <a:xfrm>
            <a:off x="15096744" y="3314700"/>
            <a:ext cx="190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41" name="Text 31"/>
          <p:cNvSpPr txBox="1"/>
          <p:nvPr/>
        </p:nvSpPr>
        <p:spPr>
          <a:xfrm>
            <a:off x="15096744" y="3622853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10W-40 1L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15096744" y="3965753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Полусинтетика ЮФО</a:t>
            </a:r>
            <a:endParaRPr lang="en-US" sz="1100" dirty="0"/>
          </a:p>
        </p:txBody>
      </p:sp>
      <p:sp>
        <p:nvSpPr>
          <p:cNvPr id="43" name="Shape 33"/>
          <p:cNvSpPr/>
          <p:nvPr/>
        </p:nvSpPr>
        <p:spPr>
          <a:xfrm>
            <a:off x="15096744" y="3019349"/>
            <a:ext cx="1190549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4" name="Text 34"/>
          <p:cNvSpPr txBox="1"/>
          <p:nvPr/>
        </p:nvSpPr>
        <p:spPr>
          <a:xfrm>
            <a:off x="15096744" y="3019349"/>
            <a:ext cx="1191463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Classic Protect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3143707" y="6458407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46" name="Text 36"/>
          <p:cNvSpPr txBox="1"/>
          <p:nvPr/>
        </p:nvSpPr>
        <p:spPr>
          <a:xfrm>
            <a:off x="3143707" y="7018020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5W-30 4L</a:t>
            </a:r>
            <a:endParaRPr lang="en-US" sz="1500" dirty="0"/>
          </a:p>
        </p:txBody>
      </p:sp>
      <p:sp>
        <p:nvSpPr>
          <p:cNvPr id="47" name="Text 37"/>
          <p:cNvSpPr txBox="1"/>
          <p:nvPr/>
        </p:nvSpPr>
        <p:spPr>
          <a:xfrm>
            <a:off x="3143707" y="7360920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Синтетика Core/OEM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3143707" y="6163056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Text 39"/>
          <p:cNvSpPr txBox="1"/>
          <p:nvPr/>
        </p:nvSpPr>
        <p:spPr>
          <a:xfrm>
            <a:off x="3143707" y="6163056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Tech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7144207" y="6458407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51" name="Text 41"/>
          <p:cNvSpPr txBox="1"/>
          <p:nvPr/>
        </p:nvSpPr>
        <p:spPr>
          <a:xfrm>
            <a:off x="7144207" y="7018020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5W-30 1L</a:t>
            </a:r>
            <a:endParaRPr lang="en-US" sz="1500" dirty="0"/>
          </a:p>
        </p:txBody>
      </p:sp>
      <p:sp>
        <p:nvSpPr>
          <p:cNvPr id="52" name="Text 42"/>
          <p:cNvSpPr txBox="1"/>
          <p:nvPr/>
        </p:nvSpPr>
        <p:spPr>
          <a:xfrm>
            <a:off x="7144207" y="7360920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Синтетика Core/OEM</a:t>
            </a:r>
            <a:endParaRPr lang="en-US" sz="1100" dirty="0"/>
          </a:p>
        </p:txBody>
      </p:sp>
      <p:sp>
        <p:nvSpPr>
          <p:cNvPr id="53" name="Shape 43"/>
          <p:cNvSpPr/>
          <p:nvPr/>
        </p:nvSpPr>
        <p:spPr>
          <a:xfrm>
            <a:off x="7144207" y="6163056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44"/>
          <p:cNvSpPr txBox="1"/>
          <p:nvPr/>
        </p:nvSpPr>
        <p:spPr>
          <a:xfrm>
            <a:off x="7144207" y="6163056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Tech</a:t>
            </a:r>
            <a:endParaRPr lang="en-US" sz="800" dirty="0"/>
          </a:p>
        </p:txBody>
      </p:sp>
      <p:sp>
        <p:nvSpPr>
          <p:cNvPr id="55" name="Text 45"/>
          <p:cNvSpPr txBox="1"/>
          <p:nvPr/>
        </p:nvSpPr>
        <p:spPr>
          <a:xfrm>
            <a:off x="11144707" y="6458407"/>
            <a:ext cx="1619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56" name="Text 46"/>
          <p:cNvSpPr txBox="1"/>
          <p:nvPr/>
        </p:nvSpPr>
        <p:spPr>
          <a:xfrm>
            <a:off x="11144707" y="7018020"/>
            <a:ext cx="16194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0W-20 5L</a:t>
            </a:r>
            <a:endParaRPr lang="en-US" sz="1500" dirty="0"/>
          </a:p>
        </p:txBody>
      </p:sp>
      <p:sp>
        <p:nvSpPr>
          <p:cNvPr id="57" name="Text 47"/>
          <p:cNvSpPr txBox="1"/>
          <p:nvPr/>
        </p:nvSpPr>
        <p:spPr>
          <a:xfrm>
            <a:off x="11144707" y="7360920"/>
            <a:ext cx="16194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Синтетика Growth</a:t>
            </a:r>
            <a:endParaRPr lang="en-US" sz="1100" dirty="0"/>
          </a:p>
        </p:txBody>
      </p:sp>
      <p:sp>
        <p:nvSpPr>
          <p:cNvPr id="58" name="Shape 48"/>
          <p:cNvSpPr/>
          <p:nvPr/>
        </p:nvSpPr>
        <p:spPr>
          <a:xfrm>
            <a:off x="11144707" y="6163056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9" name="Text 49"/>
          <p:cNvSpPr txBox="1"/>
          <p:nvPr/>
        </p:nvSpPr>
        <p:spPr>
          <a:xfrm>
            <a:off x="11144707" y="6163056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Tech</a:t>
            </a:r>
            <a:endParaRPr lang="en-US" sz="800" dirty="0"/>
          </a:p>
        </p:txBody>
      </p:sp>
      <p:sp>
        <p:nvSpPr>
          <p:cNvPr id="60" name="Text 50"/>
          <p:cNvSpPr txBox="1"/>
          <p:nvPr/>
        </p:nvSpPr>
        <p:spPr>
          <a:xfrm>
            <a:off x="15145207" y="6458407"/>
            <a:ext cx="190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Моторное масло</a:t>
            </a:r>
            <a:endParaRPr lang="en-US" sz="1600" dirty="0"/>
          </a:p>
        </p:txBody>
      </p:sp>
      <p:sp>
        <p:nvSpPr>
          <p:cNvPr id="61" name="Text 51"/>
          <p:cNvSpPr txBox="1"/>
          <p:nvPr/>
        </p:nvSpPr>
        <p:spPr>
          <a:xfrm>
            <a:off x="15145207" y="6766560"/>
            <a:ext cx="1905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0W-20 1L</a:t>
            </a:r>
            <a:endParaRPr lang="en-US" sz="1500" dirty="0"/>
          </a:p>
        </p:txBody>
      </p:sp>
      <p:sp>
        <p:nvSpPr>
          <p:cNvPr id="62" name="Text 52"/>
          <p:cNvSpPr txBox="1"/>
          <p:nvPr/>
        </p:nvSpPr>
        <p:spPr>
          <a:xfrm>
            <a:off x="15145207" y="7109460"/>
            <a:ext cx="19056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Синтетика Growth</a:t>
            </a:r>
            <a:endParaRPr lang="en-US" sz="1100" dirty="0"/>
          </a:p>
        </p:txBody>
      </p:sp>
      <p:sp>
        <p:nvSpPr>
          <p:cNvPr id="63" name="Shape 53"/>
          <p:cNvSpPr/>
          <p:nvPr/>
        </p:nvSpPr>
        <p:spPr>
          <a:xfrm>
            <a:off x="15145207" y="6163056"/>
            <a:ext cx="90525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4" name="Text 54"/>
          <p:cNvSpPr txBox="1"/>
          <p:nvPr/>
        </p:nvSpPr>
        <p:spPr>
          <a:xfrm>
            <a:off x="15145207" y="6163056"/>
            <a:ext cx="9052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Modern Tech</a:t>
            </a:r>
            <a:endParaRPr lang="en-US" sz="800" dirty="0"/>
          </a:p>
        </p:txBody>
      </p:sp>
      <p:sp>
        <p:nvSpPr>
          <p:cNvPr id="65" name="Text 55"/>
          <p:cNvSpPr txBox="1"/>
          <p:nvPr/>
        </p:nvSpPr>
        <p:spPr>
          <a:xfrm>
            <a:off x="1143000" y="9001354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Дизайн-система: единый графитовый носитель канистр, визуальное разведение веток через цветовые сигналы и графический акцент «oil ribbon» (янтарная лента масла). Без указания блендингового завода.</a:t>
            </a:r>
            <a:endParaRPr lang="en-US" sz="12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77157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77157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9144000" y="2952598"/>
            <a:ext cx="8001000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9144000" y="2952598"/>
            <a:ext cx="8001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143000" y="5905195"/>
            <a:ext cx="7715707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143000" y="5905195"/>
            <a:ext cx="77157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9144000" y="5905195"/>
            <a:ext cx="8001000" cy="2762402"/>
          </a:xfrm>
          <a:prstGeom prst="roundRect">
            <a:avLst>
              <a:gd name="adj" fmla="val 1390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9144000" y="5905195"/>
            <a:ext cx="8001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· Проектные ограничения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Границы исследования: Ограничения и допущения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Прозрачная фиксация допущений и неопределенностей, обязательная для строгой академической защиты.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80744" y="3143707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 txBox="1"/>
          <p:nvPr/>
        </p:nvSpPr>
        <p:spPr>
          <a:xfrm>
            <a:off x="1380744" y="3143707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Квадрант 1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284171" y="3157423"/>
            <a:ext cx="896112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/ Данные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380744" y="3438144"/>
            <a:ext cx="7239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Неполнота розничных долей 2024–2026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1285646" y="3781044"/>
            <a:ext cx="733440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​В открытых базах </a:t>
            </a: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подтверждены</a:t>
            </a: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розничные доли за 2024–2026 гг.</a:t>
            </a:r>
            <a:endParaRPr lang="en-US" sz="1400" dirty="0"/>
          </a:p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​Их текущее присутствие в B2X принято в качестве рабочей гипотезы (н/д).</a:t>
            </a:r>
            <a:endParaRPr lang="en-US" sz="1400" dirty="0"/>
          </a:p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​Требуется верификация фактических продаж на этапе пилота.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381744" y="3143707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 txBox="1"/>
          <p:nvPr/>
        </p:nvSpPr>
        <p:spPr>
          <a:xfrm>
            <a:off x="9381744" y="3143707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Квадрант 2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285171" y="3157423"/>
            <a:ext cx="1515161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Technical / Технологии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381744" y="3438144"/>
            <a:ext cx="7525512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Лабораторная валидация TDS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9286646" y="3781044"/>
            <a:ext cx="7620610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​Паспорта качества (TDS) составлены в рамках ТЗ проекта.</a:t>
            </a:r>
            <a:endParaRPr lang="en-US" sz="1400" dirty="0"/>
          </a:p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​Необходимы физико-химические испытания блендинговой смеси.</a:t>
            </a:r>
            <a:endParaRPr lang="en-US" sz="1400" dirty="0"/>
          </a:p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​Обязательное лабораторное подтверждение соответствия допускам.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80744" y="6096305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 txBox="1"/>
          <p:nvPr/>
        </p:nvSpPr>
        <p:spPr>
          <a:xfrm>
            <a:off x="1380744" y="6096305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Квадрант 3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2284171" y="6110021"/>
            <a:ext cx="14484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Legal / Юриспруденция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380744" y="6391656"/>
            <a:ext cx="7239305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Юридический комплаенс этикеток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285646" y="6705295"/>
            <a:ext cx="7334402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​Регистрация ТЗ ФИПС RU 1172689 является защитным IP-барьером.</a:t>
            </a:r>
            <a:endParaRPr lang="en-US" sz="1400" dirty="0"/>
          </a:p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​Наличие зарегистрированного знака </a:t>
            </a:r>
            <a:r>
              <a:rPr lang="en-US" sz="1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эквивалентно</a:t>
            </a: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допуску к продаже.</a:t>
            </a:r>
            <a:endParaRPr lang="en-US" sz="1400" dirty="0"/>
          </a:p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​Обязателен комплаенс текстов back label на предмет соответствия стандартам.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381744" y="6096305"/>
            <a:ext cx="8284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 txBox="1"/>
          <p:nvPr/>
        </p:nvSpPr>
        <p:spPr>
          <a:xfrm>
            <a:off x="9381744" y="6096305"/>
            <a:ext cx="8293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Квадрант 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0285171" y="6110021"/>
            <a:ext cx="13816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Commercial / Финансы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381744" y="6391656"/>
            <a:ext cx="7525512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Согласование себестоимости </a:t>
            </a:r>
            <a:r>
              <a:rPr lang="en-US" sz="1800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и</a:t>
            </a: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завода</a:t>
            </a:r>
            <a:r>
              <a:rPr lang="ru-RU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 для </a:t>
            </a:r>
            <a:r>
              <a:rPr lang="ru-RU" b="1" dirty="0" err="1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блендинга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286646" y="6482181"/>
            <a:ext cx="7620610" cy="684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SzPct val="100000"/>
            </a:pPr>
            <a:endParaRPr lang="en-US" sz="1400" dirty="0"/>
          </a:p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​Выбор изготовителя вынесен на веху коммерческого тендера.</a:t>
            </a:r>
            <a:endParaRPr lang="en-US" sz="1400" dirty="0"/>
          </a:p>
          <a:p>
            <a:pPr marL="228600" indent="-228600" algn="l">
              <a:buSzPct val="100000"/>
              <a:buChar char="•"/>
            </a:pPr>
            <a:r>
              <a:rPr lang="en-US" sz="14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​Экономические параметры требуют валидации цен на базовые масла.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8906256"/>
            <a:ext cx="16002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Аналитические рамки исследования. Систематизация рисков проведена в рамках аудита Red Team для обеспечения жесткой доказательности проекта.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1435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51435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9144000" y="2952598"/>
            <a:ext cx="3762756" cy="5619902"/>
          </a:xfrm>
          <a:prstGeom prst="roundRect">
            <a:avLst>
              <a:gd name="adj" fmla="val 102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9144000" y="2952598"/>
            <a:ext cx="3762756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0" descr="gen-dedup-2906927863f0d9ee85441228a5d22635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13144500" y="2952598"/>
            <a:ext cx="4000500" cy="56199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План реализации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Дорожная карта: Вехи валидации и запуск по волнам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238451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Поэтапный переход от теоретического исследования к практическому освоению рыночных сегментов по волнам вязкости.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807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Ф1 ✅ Проектирование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1272946" y="3954780"/>
            <a:ext cx="3394151" cy="175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​✅ Разработка концепции ELITEN.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​✅ Анализ розничного рынка (S2).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​✅ Обоснование структуры вязкостей.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​✅ Регистрация ТЗ в ФИПС.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380744" y="3209544"/>
            <a:ext cx="13999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 txBox="1"/>
          <p:nvPr/>
        </p:nvSpPr>
        <p:spPr>
          <a:xfrm>
            <a:off x="1380744" y="3209544"/>
            <a:ext cx="14008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Фаза 1 · Выполнено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5381244" y="3543300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Ф2 ✅ Прототипы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5273446" y="3954780"/>
            <a:ext cx="33941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​✅ Отрисовка mockups 8/8 в 3D.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​✅ Разведение Classic и Modern.</a:t>
            </a:r>
            <a:endParaRPr lang="en-US" sz="1500" dirty="0"/>
          </a:p>
          <a:p>
            <a:pPr marL="241300" indent="-241300" algn="l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​✅ Спецификация этикеток (Readable Spec).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381244" y="3209544"/>
            <a:ext cx="1399946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 txBox="1"/>
          <p:nvPr/>
        </p:nvSpPr>
        <p:spPr>
          <a:xfrm>
            <a:off x="5381244" y="3209544"/>
            <a:ext cx="1400861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Фаза 2 · Выполнено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9381744" y="3495751"/>
            <a:ext cx="3286354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Запуск по волнам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9381744" y="4450385"/>
            <a:ext cx="3286354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3"/>
          <p:cNvSpPr txBox="1"/>
          <p:nvPr/>
        </p:nvSpPr>
        <p:spPr>
          <a:xfrm>
            <a:off x="9381744" y="4125773"/>
            <a:ext cx="32863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5W-40 и 5W-30.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381744" y="5071262"/>
            <a:ext cx="3286354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 txBox="1"/>
          <p:nvPr/>
        </p:nvSpPr>
        <p:spPr>
          <a:xfrm>
            <a:off x="9381744" y="4746650"/>
            <a:ext cx="32863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Внедрение драйвера роста 0W-20.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381744" y="5367528"/>
            <a:ext cx="32863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Охватный запуск 10W-40 в ЮФО.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381744" y="3161995"/>
            <a:ext cx="1476756" cy="161849"/>
          </a:xfrm>
          <a:prstGeom prst="roundRect">
            <a:avLst>
              <a:gd name="adj" fmla="val 23729"/>
            </a:avLst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 txBox="1"/>
          <p:nvPr/>
        </p:nvSpPr>
        <p:spPr>
          <a:xfrm>
            <a:off x="9381744" y="3161995"/>
            <a:ext cx="1476756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Внедрение · 2026 г.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9381744" y="3907231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Волна 1 (В1)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381744" y="4528109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Волна 2 (В2)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9381744" y="5148986"/>
            <a:ext cx="123901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Волна 3 (В3)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13382244" y="3543300"/>
            <a:ext cx="3525012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Ф3 ⬜ Go-To-Market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13274446" y="3954780"/>
            <a:ext cx="3632810" cy="186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41300" indent="-241300" algn="l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​⬜ Проведение производственного тендера.</a:t>
            </a:r>
            <a:endParaRPr lang="en-US" sz="1500" dirty="0"/>
          </a:p>
          <a:p>
            <a:pPr marL="241300" indent="-241300" algn="l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​⬜ Валидация себестоимости партии.</a:t>
            </a:r>
            <a:endParaRPr lang="en-US" sz="1500" dirty="0"/>
          </a:p>
          <a:p>
            <a:pPr marL="241300" indent="-241300" algn="l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​⬜ Юридический комплаенс этикеток.</a:t>
            </a:r>
            <a:endParaRPr lang="en-US" sz="1500" dirty="0"/>
          </a:p>
          <a:p>
            <a:pPr marL="241300" indent="-241300" algn="l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​⬜ Запуск коммерческих продаж.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3382244" y="3209544"/>
            <a:ext cx="1333195" cy="161849"/>
          </a:xfrm>
          <a:prstGeom prst="roundRect">
            <a:avLst>
              <a:gd name="adj" fmla="val 23729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5"/>
          <p:cNvSpPr txBox="1"/>
          <p:nvPr/>
        </p:nvSpPr>
        <p:spPr>
          <a:xfrm>
            <a:off x="13382244" y="3209544"/>
            <a:ext cx="1334110" cy="1627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Фаза 3 · Ожидание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286000"/>
            <a:ext cx="16002000" cy="6476695"/>
          </a:xfrm>
          <a:prstGeom prst="roundRect">
            <a:avLst>
              <a:gd name="adj" fmla="val 59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286000"/>
            <a:ext cx="16002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Приложение A1 · Методологический след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Приложение A1: методологический след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29207" y="2572207"/>
          <a:ext cx="15430501" cy="5610756"/>
        </p:xfrm>
        <a:graphic>
          <a:graphicData uri="http://schemas.openxmlformats.org/drawingml/2006/table">
            <a:tbl>
              <a:tblPr/>
              <a:tblGrid>
                <a:gridCol w="3394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7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51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Компетенция / задача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Руководство / метод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Полученный артефакт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Влияние на результат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42646" marB="142646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1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Постановка бизнес-задачи для ИИ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Протокол аналитика: задача → критерии → ограничения → формат → алгоритм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План диплома, критерии успеха, этапы 0–7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Проект получил управляемую структуру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51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Meta-Prompting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GPTOracle / AI Research Meta-Prompter + Red Team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Усиленные Deep Research-промпты A/B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Снижены риски слабой постановки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51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Изучение рынка с помощью ИИ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Research A + URL/evidence check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Research A: рынок, бренды, S2/V1, шоки 2022+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Сформирован рыночный контекст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51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Анализ продуктового спроса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Research B + отдельная SAE-рамка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Research B: вязкости, SAE-прокси, 0W-20, 10W-40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Обоснована SKU-гипотеза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351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Проверка результатов ИИ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Декомпозиция Deep Research + wiki-ingest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Decomposed Deep Research, wiki, evidence base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Факты, выводы и гипотезы разведены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209398" marB="2093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2286000"/>
            <a:ext cx="16002000" cy="6476695"/>
          </a:xfrm>
          <a:prstGeom prst="roundRect">
            <a:avLst>
              <a:gd name="adj" fmla="val 593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2286000"/>
            <a:ext cx="16002000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ABAB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Приложение A2 · Методологический след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1143000"/>
            <a:ext cx="1600200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36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Приложение A2: методологический след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660477"/>
              </p:ext>
            </p:extLst>
          </p:nvPr>
        </p:nvGraphicFramePr>
        <p:xfrm>
          <a:off x="1429207" y="2572207"/>
          <a:ext cx="15430501" cy="5315408"/>
        </p:xfrm>
        <a:graphic>
          <a:graphicData uri="http://schemas.openxmlformats.org/drawingml/2006/table">
            <a:tbl>
              <a:tblPr/>
              <a:tblGrid>
                <a:gridCol w="3394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7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578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9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Компетенция / задача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Руководство / метод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Полученный артефакт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Влияние на результат</a:t>
                      </a:r>
                      <a:endParaRPr lang="en-US" sz="16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95098" marB="95098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Нейромаркетинговый анализ упаковки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PGMM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Матрицы визуальных кодов конкурентов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Выявлены паттерны рынка и white space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Аудит коммуникационных claims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ODSA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Front/back claims, lacunae, risk register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Определены риски API/ACEA/OEM, TDS, back label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Нейминг и бренд-архитектура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DDx + ODSA 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ELITEN, Verum, Calibr; выбор ELITEN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Имя связано с позиционированием и IP-рисками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Генерация графических материалов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Prompt pipeline + material cleanup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 concept front mockups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Визуальная система связана с PGMM/ODSA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Roadmap запуска СТМ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Глубокая декомпозиция Deep Research: MECE, CLA, OST, RBS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Сводный чеклист запуска СТМ моторных масел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Аналитика переведена в операционные next steps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9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Продуктовая и коммуникационная стратегия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Синтез Deep Research A + Deep Research B + PGMM/ODSA + бренд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b="1" dirty="0">
                          <a:solidFill>
                            <a:srgbClr val="0ABAB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SKU-гипотеза, позиционирование, roadmap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25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Проект собран в прикладную концепцию запуска</a:t>
                      </a:r>
                      <a:endParaRPr lang="en-US" sz="1425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646" marR="142646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F1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00" cy="761695"/>
          </a:xfrm>
          <a:prstGeom prst="rect">
            <a:avLst/>
          </a:prstGeom>
          <a:solidFill>
            <a:srgbClr val="131B2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0" y="752551"/>
            <a:ext cx="18288000" cy="91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143000" y="3000146"/>
            <a:ext cx="4858207" cy="5524805"/>
          </a:xfrm>
          <a:prstGeom prst="roundRect">
            <a:avLst>
              <a:gd name="adj" fmla="val 79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1143000" y="3000146"/>
            <a:ext cx="4858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6381598" y="3000146"/>
            <a:ext cx="4858207" cy="5524805"/>
          </a:xfrm>
          <a:prstGeom prst="roundRect">
            <a:avLst>
              <a:gd name="adj" fmla="val 791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6381598" y="3000146"/>
            <a:ext cx="4858207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11620195" y="3000146"/>
            <a:ext cx="5524805" cy="5524805"/>
          </a:xfrm>
          <a:prstGeom prst="roundRect">
            <a:avLst>
              <a:gd name="adj" fmla="val 695"/>
            </a:avLst>
          </a:prstGeom>
          <a:solidFill>
            <a:srgbClr val="131B2E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11620195" y="3000146"/>
            <a:ext cx="5524805" cy="38405"/>
          </a:xfrm>
          <a:prstGeom prst="roundRect">
            <a:avLst>
              <a:gd name="adj" fmla="val 99999"/>
            </a:avLst>
          </a:prstGeom>
          <a:solidFill>
            <a:srgbClr val="0ABAB5"/>
          </a:solidFill>
          <a:ln w="12700">
            <a:solidFill>
              <a:srgbClr val="0ABAB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 txBox="1"/>
          <p:nvPr/>
        </p:nvSpPr>
        <p:spPr>
          <a:xfrm>
            <a:off x="1143000" y="237744"/>
            <a:ext cx="9525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Приложение B · Чеклист запуска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1143000"/>
            <a:ext cx="16002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Приложение B: Сводный чеклист по результатам декомпозиции</a:t>
            </a:r>
            <a:endParaRPr lang="en-US" sz="3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381098"/>
            <a:ext cx="16002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Спецификация конкретных задач и критериев приемки (MECE/CLA/OST/RBS) для пре-лонч верификации.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80744" y="3648456"/>
            <a:ext cx="4381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Продукт &amp; R&amp;D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80744" y="4304081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Бимодальный портфель (Classic Protect / Modern Tech) и волны запуска вязкостей.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0744" y="5221224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Паспорта качества, верификация физико-химических спецификаций и стандартов.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80744" y="6138367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Опытные смеси базовых масел и целевых пакетов присадок.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380744" y="3238805"/>
            <a:ext cx="694944" cy="237744"/>
          </a:xfrm>
          <a:prstGeom prst="roundRect">
            <a:avLst>
              <a:gd name="adj" fmla="val 16154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 txBox="1"/>
          <p:nvPr/>
        </p:nvSpPr>
        <p:spPr>
          <a:xfrm>
            <a:off x="1380744" y="3238805"/>
            <a:ext cx="6958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Блок 1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380744" y="4065422"/>
            <a:ext cx="18480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Портфель SKU: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80744" y="4982566"/>
            <a:ext cx="286847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Технические карты (TDS):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80744" y="5899709"/>
            <a:ext cx="284561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Лабораторный блендинг: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620256" y="3648456"/>
            <a:ext cx="43818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Брендинг &amp; Право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620256" y="4304081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Патентная чистота ТЗ ФИПС RU 1172689 по кл. 04. Проверка коллизий.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620256" y="5221224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и утверждение 8/8 концепт-макетов front label по логике readable spec.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20256" y="6138367"/>
            <a:ext cx="4381805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Юридический комплаенс и тексты спецификаций на back label канистры.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20256" y="3238805"/>
            <a:ext cx="694944" cy="237744"/>
          </a:xfrm>
          <a:prstGeom prst="roundRect">
            <a:avLst>
              <a:gd name="adj" fmla="val 16154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 txBox="1"/>
          <p:nvPr/>
        </p:nvSpPr>
        <p:spPr>
          <a:xfrm>
            <a:off x="6620256" y="3238805"/>
            <a:ext cx="6958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Блок 2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6620256" y="4065422"/>
            <a:ext cx="2585009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Патентный комплаенс: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20256" y="4982566"/>
            <a:ext cx="3151937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Макеты упаковок (Mockups):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20256" y="5899709"/>
            <a:ext cx="235823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Оборотная этикетка: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1858854" y="3648456"/>
            <a:ext cx="5048402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Коммерция &amp; GTM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11858854" y="4304081"/>
            <a:ext cx="5048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 технико-коммерческих предложений (ТКП) от блендинговых заводов.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1858854" y="5221224"/>
            <a:ext cx="5048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Расчет себестоимости блендинга, упаковки, добавок и логистического плеча.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858854" y="6138367"/>
            <a:ext cx="504840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розничных наценок, входа в сети и тестовой географии продаж.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11858854" y="3238805"/>
            <a:ext cx="694944" cy="237744"/>
          </a:xfrm>
          <a:prstGeom prst="roundRect">
            <a:avLst>
              <a:gd name="adj" fmla="val 16154"/>
            </a:avLst>
          </a:prstGeom>
          <a:solidFill>
            <a:srgbClr val="0ABAB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8" name="Text 36"/>
          <p:cNvSpPr txBox="1"/>
          <p:nvPr/>
        </p:nvSpPr>
        <p:spPr>
          <a:xfrm>
            <a:off x="11858854" y="3238805"/>
            <a:ext cx="6958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63500" rIns="139700" bIns="63500" rtlCol="0" anchor="ctr"/>
          <a:lstStyle/>
          <a:p>
            <a:pPr marL="0" indent="0" algn="l">
              <a:buNone/>
            </a:pPr>
            <a:r>
              <a:rPr lang="en-US" sz="800" b="1" kern="0" spc="66" dirty="0">
                <a:solidFill>
                  <a:srgbClr val="0B0F1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Блок 3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1858854" y="4065422"/>
            <a:ext cx="307238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Производственный тендер: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1858854" y="4982566"/>
            <a:ext cx="278892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Юнит-экономика партии: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1858854" y="5899709"/>
            <a:ext cx="2494483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BA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] Дистрибуция и пилот:</a:t>
            </a:r>
            <a:endParaRPr 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9724644"/>
          <a:ext cx="16002000" cy="178308"/>
        </p:xfrm>
        <a:graphic>
          <a:graphicData uri="http://schemas.openxmlformats.org/drawingml/2006/table">
            <a:tbl>
              <a:tblPr/>
              <a:tblGrid>
                <a:gridCol w="15670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9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94A3B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ELITEN · NN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9144" marR="9144" marT="9144" marB="9144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3998</Words>
  <Application>Microsoft Macintosh PowerPoint</Application>
  <PresentationFormat>Произвольный</PresentationFormat>
  <Paragraphs>506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Inter</vt:lpstr>
      <vt:lpstr>JetBrains Mono</vt:lpstr>
      <vt:lpstr>Playfair Display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Юрий Валиев</cp:lastModifiedBy>
  <cp:revision>20</cp:revision>
  <dcterms:created xsi:type="dcterms:W3CDTF">2026-06-30T20:49:21Z</dcterms:created>
  <dcterms:modified xsi:type="dcterms:W3CDTF">2026-07-01T09:58:33Z</dcterms:modified>
</cp:coreProperties>
</file>
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image" Target="../media/image-12-5.jpeg"/><Relationship Id="rId6" Type="http://schemas.openxmlformats.org/officeDocument/2006/relationships/image" Target="../media/image-12-6.jpeg"/><Relationship Id="rId7" Type="http://schemas.openxmlformats.org/officeDocument/2006/relationships/image" Target="../media/image-12-7.jpeg"/><Relationship Id="rId8" Type="http://schemas.openxmlformats.org/officeDocument/2006/relationships/image" Target="../media/image-12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7f0aa505c7f66f85dfbc28cce9e90fb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pic>
        <p:nvPicPr>
          <p:cNvPr id="5" name="Image 1" descr="gen-dedup-733bcea1b14b6aea961991e302775537.png">    </p:cNvPr>
          <p:cNvPicPr>
            <a:picLocks noChangeAspect="1"/>
          </p:cNvPicPr>
          <p:nvPr/>
        </p:nvPicPr>
        <p:blipFill>
          <a:blip r:embed="rId2"/>
          <a:srcRect l="-397" r="-397" t="0" b="0"/>
          <a:stretch/>
        </p:blipFill>
        <p:spPr>
          <a:xfrm>
            <a:off x="1143000" y="2095805"/>
            <a:ext cx="38405" cy="60963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914400"/>
            <a:ext cx="9525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ДПО МГИМО «МГИМО НЕЙРО» · Итоговая работа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12573000" y="914400"/>
            <a:ext cx="4572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НЕЙРОТЕХНОЛОГИИ И ИИ В БИЗНЕСЕ</a:t>
            </a:r>
            <a:endParaRPr lang="en-US" sz="1200" dirty="0"/>
          </a:p>
        </p:txBody>
      </p:sp>
      <p:pic>
        <p:nvPicPr>
          <p:cNvPr id="8" name="Image 2" descr="gen-dedup-b16efd6862a75ea8cac67260f8d6147e.png">    </p:cNvPr>
          <p:cNvPicPr>
            <a:picLocks noChangeAspect="1"/>
          </p:cNvPicPr>
          <p:nvPr/>
        </p:nvPicPr>
        <p:blipFill>
          <a:blip r:embed="rId3"/>
          <a:srcRect l="-49" r="-49" t="0" b="0"/>
          <a:stretch/>
        </p:blipFill>
        <p:spPr>
          <a:xfrm>
            <a:off x="1524305" y="2095805"/>
            <a:ext cx="3629254" cy="3337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24305" y="2095805"/>
            <a:ext cx="36292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исследование + прикладной проект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1524305" y="2857500"/>
            <a:ext cx="15240305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-60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ELITEN — концепция запуска</a:t>
            </a:r>
            <a:pPr algn="l" indent="0" marL="0">
              <a:buNone/>
            </a:pPr>
            <a:endParaRPr lang="en-US" sz="6000" dirty="0"/>
          </a:p>
          <a:p>
            <a:pPr algn="l" indent="0" marL="0">
              <a:buNone/>
            </a:pPr>
            <a:r>
              <a:rPr lang="en-US" sz="6000" b="1" i="1" spc="-60" kern="0" dirty="0">
                <a:solidFill>
                  <a:srgbClr val="0ABAB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собственной торговой марки моторных масел</a:t>
            </a:r>
            <a:endParaRPr lang="en-US" sz="6000" dirty="0"/>
          </a:p>
        </p:txBody>
      </p:sp>
      <p:sp>
        <p:nvSpPr>
          <p:cNvPr id="11" name="Text 6"/>
          <p:cNvSpPr txBox="1"/>
          <p:nvPr/>
        </p:nvSpPr>
        <p:spPr>
          <a:xfrm>
            <a:off x="1524305" y="6191402"/>
            <a:ext cx="16573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Концептуальное и аналитическое обоснование вывода нового бренда на рынок РФ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1524305" y="7429500"/>
            <a:ext cx="159261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Исследование рынка · продуктовая гипотеза · архитектура бренда · concept front mockups · roadmap проверки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8667598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89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Выполнил слушатель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524305" y="8876995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Программа МГИМО НЕЙРО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12573000" y="8667598"/>
            <a:ext cx="4572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spc="189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Год защиты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2573000" y="8876995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2026</a:t>
            </a:r>
            <a:endParaRPr lang="en-US" sz="2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820656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3715207" cy="5619902"/>
          </a:xfrm>
          <a:prstGeom prst="roundRect">
            <a:avLst>
              <a:gd name="adj" fmla="val 1034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0" y="2952598"/>
            <a:ext cx="3715207" cy="5619902"/>
          </a:xfrm>
          <a:prstGeom prst="roundRect">
            <a:avLst>
              <a:gd name="adj" fmla="val 1034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2952598"/>
            <a:ext cx="3715207" cy="5619902"/>
          </a:xfrm>
          <a:prstGeom prst="roundRect">
            <a:avLst>
              <a:gd name="adj" fmla="val 1034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144500" y="2952598"/>
            <a:ext cx="4000500" cy="5619902"/>
          </a:xfrm>
          <a:prstGeom prst="roundRect">
            <a:avLst>
              <a:gd name="adj" fmla="val 960"/>
            </a:avLst>
          </a:prstGeom>
          <a:solidFill>
            <a:srgbClr val="008080"/>
          </a:solidFill>
          <a:ln w="12700">
            <a:solidFill>
              <a:srgbClr val="0ABAB5"/>
            </a:solidFill>
            <a:prstDash val="solid"/>
          </a:ln>
          <a:effectLst>
            <a:outerShdw sx="100000" sy="100000" kx="0" ky="0" algn="bl" rotWithShape="0" blurRad="139700" dist="12700" dir="16200000">
              <a:srgbClr val="0abab5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Управленческая задача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1143000"/>
            <a:ext cx="1600200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От неопределённости к проверяемой концепции запуска бренда ELITEN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Формирование структурированной логики запуска СТМ моторных масел на основе рыночных вводных и системного ИИ-анализа.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80744" y="3191256"/>
            <a:ext cx="705002" cy="219456"/>
          </a:xfrm>
          <a:prstGeom prst="roundRect">
            <a:avLst>
              <a:gd name="adj" fmla="val 17500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80744" y="3191256"/>
            <a:ext cx="7050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spc="78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Шаг 01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172614" y="3224174"/>
            <a:ext cx="5623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Вводные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380744" y="3638398"/>
            <a:ext cx="3238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Рыночные шоки после 2022 года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279449" y="4431182"/>
            <a:ext cx="3340100" cy="2307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Уход западных брендов (Shell, Mobil, Castrol).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Перестройка розничного спроса.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Резкий рост цен в ключевом сегменте 4L.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81244" y="3191256"/>
            <a:ext cx="705002" cy="219456"/>
          </a:xfrm>
          <a:prstGeom prst="roundRect">
            <a:avLst>
              <a:gd name="adj" fmla="val 17500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81244" y="3191256"/>
            <a:ext cx="7050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spc="78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Шаг 02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173114" y="3224174"/>
            <a:ext cx="7242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Аналитика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381244" y="3638398"/>
            <a:ext cx="3238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Оценка данных и ограничений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5279949" y="4431182"/>
            <a:ext cx="3340100" cy="2307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Разведение S2 (уровень) и V1 (тренд).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Использование V1 как Aftermarket-прокси.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Фиксация долей 2024–2026 как н/д.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381744" y="3191256"/>
            <a:ext cx="705002" cy="219456"/>
          </a:xfrm>
          <a:prstGeom prst="roundRect">
            <a:avLst>
              <a:gd name="adj" fmla="val 17500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81744" y="3191256"/>
            <a:ext cx="7050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spc="78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Шаг 03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73614" y="3224174"/>
            <a:ext cx="5623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Продукт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81744" y="3638398"/>
            <a:ext cx="3238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Проектирование решений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9280449" y="4431182"/>
            <a:ext cx="3340100" cy="196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Позиционирование ELITEN как инженерного зонтика.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Бимодальная линейка Classic &amp; Modern.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Разделение 4 базовых SKU.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3382244" y="3191256"/>
            <a:ext cx="533095" cy="219456"/>
          </a:xfrm>
          <a:prstGeom prst="roundRect">
            <a:avLst>
              <a:gd name="adj" fmla="val 17500"/>
            </a:avLst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3382244" y="3191256"/>
            <a:ext cx="53401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spc="78" kern="0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Итог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4004950" y="3224174"/>
            <a:ext cx="3246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План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3382244" y="3638398"/>
            <a:ext cx="35250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Проверяемая концепция запуска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13280949" y="4431182"/>
            <a:ext cx="3626307" cy="2307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Сведение выводов в операционный Roadmap.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 вех верификации.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Подготовка к коммерческой и технической валидации.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0" y="2952598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2952598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144500" y="2952598"/>
            <a:ext cx="4000500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44500" y="2952598"/>
            <a:ext cx="40005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6001207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6001207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43500" y="6001207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43500" y="6001207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6001207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6001207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144500" y="6001207"/>
            <a:ext cx="4000500" cy="2762402"/>
          </a:xfrm>
          <a:prstGeom prst="roundRect">
            <a:avLst>
              <a:gd name="adj" fmla="val 1390"/>
            </a:avLst>
          </a:prstGeom>
          <a:solidFill>
            <a:srgbClr val="008080"/>
          </a:solidFill>
          <a:ln w="12700">
            <a:solidFill>
              <a:srgbClr val="0ABAB5"/>
            </a:solidFill>
            <a:prstDash val="solid"/>
          </a:ln>
          <a:effectLst>
            <a:outerShdw sx="100000" sy="100000" kx="0" ky="0" algn="bl" rotWithShape="0" blurRad="139700" dist="12700" dir="16200000">
              <a:srgbClr val="0abab5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Методология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Методология: управляемый ИИ-workflow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Применение инструментов программы как последовательного исследовательского конвейера с контролем качества и разграничением гипотез.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33195" y="3143707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33195" y="3143707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028139" y="3167482"/>
            <a:ext cx="6766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Аналитика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333195" y="3486607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Протокол &amp; GPTOracle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225398" y="3878885"/>
            <a:ext cx="34417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Первичный сбор требований.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 ролей.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Усиление промптов.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333695" y="3143707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33695" y="3143707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028639" y="3167482"/>
            <a:ext cx="6766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Валидация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333695" y="3486607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Аудит Red Team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5225898" y="3878885"/>
            <a:ext cx="34417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Оппонирование гипотезам.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скрытых допущений.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Фиксация рисков.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334195" y="3143707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34195" y="3143707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3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029139" y="3167482"/>
            <a:ext cx="381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Поиск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334195" y="3486607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A/B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226398" y="3878885"/>
            <a:ext cx="34417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Контекстный сбор данных.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 А: розничный рынок.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 B: спецификации масел.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3334695" y="3143707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3334695" y="3143707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4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4029639" y="3167482"/>
            <a:ext cx="4480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Синтез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3334695" y="3486607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Декомпозиция + Wiki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13226898" y="3878885"/>
            <a:ext cx="37279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Систематизация базы знаний.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Изоляция фактов от гипотез.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Разделение баз S2 и V1.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333195" y="6191402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333195" y="6191402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5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2028139" y="6215177"/>
            <a:ext cx="381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Аудит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333195" y="6534302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PGMM &amp; ODSA</a:t>
            </a:r>
            <a:endParaRPr lang="en-US" sz="1900" dirty="0"/>
          </a:p>
        </p:txBody>
      </p:sp>
      <p:sp>
        <p:nvSpPr>
          <p:cNvPr id="48" name="Text 46"/>
          <p:cNvSpPr txBox="1"/>
          <p:nvPr/>
        </p:nvSpPr>
        <p:spPr>
          <a:xfrm>
            <a:off x="1225398" y="6926580"/>
            <a:ext cx="34417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позиционирования.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Выявление гэпов этикеток.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Аудит лицевых спецификаций.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333695" y="6191402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333695" y="6191402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6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028639" y="6215177"/>
            <a:ext cx="6007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Брендинг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333695" y="6534302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Бренд &amp; Архитектура</a:t>
            </a:r>
            <a:endParaRPr lang="en-US" sz="1900" dirty="0"/>
          </a:p>
        </p:txBody>
      </p:sp>
      <p:sp>
        <p:nvSpPr>
          <p:cNvPr id="53" name="Text 51"/>
          <p:cNvSpPr txBox="1"/>
          <p:nvPr/>
        </p:nvSpPr>
        <p:spPr>
          <a:xfrm>
            <a:off x="5333695" y="6926580"/>
            <a:ext cx="333390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названия ELITEN, защита товарного знака в ФИПС и проектирование структуры линеек.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334195" y="6191402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334195" y="6191402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7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0029139" y="6215177"/>
            <a:ext cx="6007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Прототип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9334195" y="6534302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Front Mockups</a:t>
            </a:r>
            <a:endParaRPr lang="en-US" sz="1900" dirty="0"/>
          </a:p>
        </p:txBody>
      </p:sp>
      <p:sp>
        <p:nvSpPr>
          <p:cNvPr id="58" name="Text 56"/>
          <p:cNvSpPr txBox="1"/>
          <p:nvPr/>
        </p:nvSpPr>
        <p:spPr>
          <a:xfrm>
            <a:off x="9226398" y="6926580"/>
            <a:ext cx="34417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Отрисовка концептов в 3D.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Визуализация систем.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читаемости.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13334695" y="6191402"/>
            <a:ext cx="543154" cy="190195"/>
          </a:xfrm>
          <a:prstGeom prst="roundRect">
            <a:avLst>
              <a:gd name="adj" fmla="val 20192"/>
            </a:avLst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3334695" y="6191402"/>
            <a:ext cx="543154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Финал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13951915" y="6215177"/>
            <a:ext cx="3054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План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3334695" y="6534302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Синтез &amp; Roadmap</a:t>
            </a:r>
            <a:endParaRPr lang="en-US" sz="1900" dirty="0"/>
          </a:p>
        </p:txBody>
      </p:sp>
      <p:sp>
        <p:nvSpPr>
          <p:cNvPr id="63" name="Text 61"/>
          <p:cNvSpPr txBox="1"/>
          <p:nvPr/>
        </p:nvSpPr>
        <p:spPr>
          <a:xfrm>
            <a:off x="13226898" y="6926580"/>
            <a:ext cx="37279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Сведение результатов в Roadmap.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Формирование чеклиста.</a:t>
            </a:r>
            <a:pPr algn="l" marL="241300" indent="-241300">
              <a:buSzPct val="100000"/>
              <a:buChar char="•"/>
            </a:pPr>
            <a:endParaRPr lang="en-US" sz="1500" dirty="0"/>
          </a:p>
          <a:p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Подготовка к защите.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2952598" cy="5715000"/>
          </a:xfrm>
          <a:prstGeom prst="roundRect">
            <a:avLst>
              <a:gd name="adj" fmla="val 130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952598"/>
            <a:ext cx="2952598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1805" y="2952598"/>
            <a:ext cx="2952598" cy="5715000"/>
          </a:xfrm>
          <a:prstGeom prst="roundRect">
            <a:avLst>
              <a:gd name="adj" fmla="val 130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1805" y="2952598"/>
            <a:ext cx="2952598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19695" y="2952598"/>
            <a:ext cx="3143707" cy="5715000"/>
          </a:xfrm>
          <a:prstGeom prst="roundRect">
            <a:avLst>
              <a:gd name="adj" fmla="val 1222"/>
            </a:avLst>
          </a:prstGeom>
          <a:solidFill>
            <a:srgbClr val="131B2E"/>
          </a:solidFill>
          <a:ln w="25400">
            <a:solidFill>
              <a:srgbClr val="0ABAB5"/>
            </a:solidFill>
            <a:prstDash val="solid"/>
          </a:ln>
          <a:effectLst>
            <a:outerShdw sx="100000" sy="100000" kx="0" ky="0" algn="bl" rotWithShape="0" blurRad="101600" dist="12700" dir="16200000">
              <a:srgbClr val="00f294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048695" y="2952598"/>
            <a:ext cx="2952598" cy="5715000"/>
          </a:xfrm>
          <a:prstGeom prst="roundRect">
            <a:avLst>
              <a:gd name="adj" fmla="val 130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48695" y="2952598"/>
            <a:ext cx="2952598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287500" y="2952598"/>
            <a:ext cx="2857500" cy="5715000"/>
          </a:xfrm>
          <a:prstGeom prst="roundRect">
            <a:avLst>
              <a:gd name="adj" fmla="val 1344"/>
            </a:avLst>
          </a:prstGeom>
          <a:solidFill>
            <a:srgbClr val="008080"/>
          </a:solidFill>
          <a:ln w="12700">
            <a:solidFill>
              <a:srgbClr val="0ABAB5"/>
            </a:solidFill>
            <a:prstDash val="solid"/>
          </a:ln>
          <a:effectLst>
            <a:outerShdw sx="100000" sy="100000" kx="0" ky="0" algn="bl" rotWithShape="0" blurRad="139700" dist="12700" dir="16200000">
              <a:srgbClr val="00f294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Слои доказательности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Разделение и субординация слоёв доказательности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Методологическая дисциплина проекта: предотвращение смешения разных типов данных и жесткая изоляция гипотез от доказанных фактов.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33195" y="3495751"/>
            <a:ext cx="2572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63498" y="3865169"/>
            <a:ext cx="26419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Рынок и бренды.</a:t>
            </a:r>
            <a:pPr algn="l" marL="203200" indent="-203200">
              <a:buSzPct val="100000"/>
              <a:buChar char="•"/>
            </a:pPr>
            <a:endParaRPr lang="en-US" sz="1300" dirty="0"/>
          </a:p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Розничный срез S2 (2023 г.).</a:t>
            </a:r>
            <a:pPr algn="l" marL="203200" indent="-203200">
              <a:buSzPct val="100000"/>
              <a:buChar char="•"/>
            </a:pPr>
            <a:endParaRPr lang="en-US" sz="1300" dirty="0"/>
          </a:p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Определение емкости розницы.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33195" y="3161995"/>
            <a:ext cx="543154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33195" y="3161995"/>
            <a:ext cx="543154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Слой 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495751"/>
            <a:ext cx="2572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B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02302" y="3865169"/>
            <a:ext cx="26419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SAE и вязкости.</a:t>
            </a:r>
            <a:pPr algn="l" marL="203200" indent="-203200">
              <a:buSzPct val="100000"/>
              <a:buChar char="•"/>
            </a:pPr>
            <a:endParaRPr lang="en-US" sz="1300" dirty="0"/>
          </a:p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долей в рознице.</a:t>
            </a:r>
            <a:pPr algn="l" marL="203200" indent="-203200">
              <a:buSzPct val="100000"/>
              <a:buChar char="•"/>
            </a:pPr>
            <a:endParaRPr lang="en-US" sz="1300" dirty="0"/>
          </a:p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Тренды 0W-20 / 10W-40.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3161995"/>
            <a:ext cx="543154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3161995"/>
            <a:ext cx="543154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Слой B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810805" y="3495751"/>
            <a:ext cx="2762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S2/V1 Правило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41107" y="3865169"/>
            <a:ext cx="283210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S2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Уровень.</a:t>
            </a:r>
            <a:pPr algn="l" marL="203200" indent="-203200">
              <a:buSzPct val="100000"/>
              <a:buChar char="•"/>
            </a:pPr>
            <a:endParaRPr lang="en-US" sz="1300" dirty="0"/>
          </a:p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Тренд.</a:t>
            </a:r>
            <a:pPr algn="l" marL="203200" indent="-203200">
              <a:buSzPct val="100000"/>
              <a:buChar char="•"/>
            </a:pPr>
            <a:endParaRPr lang="en-US" sz="1300" dirty="0"/>
          </a:p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Базы не смешиваются.</a:t>
            </a:r>
            <a:pPr algn="l" marL="203200" indent="-203200">
              <a:buSzPct val="100000"/>
              <a:buChar char="•"/>
            </a:pPr>
            <a:endParaRPr lang="en-US" sz="1300" dirty="0"/>
          </a:p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Приоритет S2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при расхождениях.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10805" y="3161995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0805" y="3161995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Стык данных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239805" y="3495751"/>
            <a:ext cx="2572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PGMM &amp; ODSA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1170107" y="3865169"/>
            <a:ext cx="26419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Позиционирование.</a:t>
            </a:r>
            <a:pPr algn="l" marL="203200" indent="-203200">
              <a:buSzPct val="100000"/>
              <a:buChar char="•"/>
            </a:pPr>
            <a:endParaRPr lang="en-US" sz="1300" dirty="0"/>
          </a:p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коммуникации марок.</a:t>
            </a:r>
            <a:pPr algn="l" marL="203200" indent="-203200">
              <a:buSzPct val="100000"/>
              <a:buChar char="•"/>
            </a:pPr>
            <a:endParaRPr lang="en-US" sz="1300" dirty="0"/>
          </a:p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 ниши.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239805" y="3161995"/>
            <a:ext cx="543154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239805" y="3161995"/>
            <a:ext cx="543154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Слой C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4477695" y="3504895"/>
            <a:ext cx="2477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Concept Mockups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4407998" y="3874313"/>
            <a:ext cx="25468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Прототипы упаковки.</a:t>
            </a:r>
            <a:pPr algn="l" marL="203200" indent="-203200">
              <a:buSzPct val="100000"/>
              <a:buChar char="•"/>
            </a:pPr>
            <a:endParaRPr lang="en-US" sz="1300" dirty="0"/>
          </a:p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Концептуальные эскизы.</a:t>
            </a:r>
            <a:pPr algn="l" marL="203200" indent="-203200">
              <a:buSzPct val="100000"/>
              <a:buChar char="•"/>
            </a:pPr>
            <a:endParaRPr lang="en-US" sz="1300" dirty="0"/>
          </a:p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Визуальный сигнал.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4477695" y="3152851"/>
            <a:ext cx="562356" cy="181051"/>
          </a:xfrm>
          <a:prstGeom prst="roundRect">
            <a:avLst>
              <a:gd name="adj" fmla="val 21212"/>
            </a:avLst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4477695" y="3152851"/>
            <a:ext cx="56235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Слой D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9905695" cy="5524805"/>
          </a:xfrm>
          <a:prstGeom prst="roundRect">
            <a:avLst>
              <a:gd name="adj" fmla="val 695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952598"/>
            <a:ext cx="9905695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2952598"/>
            <a:ext cx="5715000" cy="1714500"/>
          </a:xfrm>
          <a:prstGeom prst="roundRect">
            <a:avLst>
              <a:gd name="adj" fmla="val 224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0" y="2952598"/>
            <a:ext cx="47549" cy="1714500"/>
          </a:xfrm>
          <a:prstGeom prst="roundRect">
            <a:avLst>
              <a:gd name="adj" fmla="val 8076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858207"/>
            <a:ext cx="5715000" cy="1714500"/>
          </a:xfrm>
          <a:prstGeom prst="roundRect">
            <a:avLst>
              <a:gd name="adj" fmla="val 224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0" y="4858207"/>
            <a:ext cx="47549" cy="1714500"/>
          </a:xfrm>
          <a:prstGeom prst="roundRect">
            <a:avLst>
              <a:gd name="adj" fmla="val 8076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0" y="6762902"/>
            <a:ext cx="5715000" cy="1714500"/>
          </a:xfrm>
          <a:prstGeom prst="roundRect">
            <a:avLst>
              <a:gd name="adj" fmla="val 2240"/>
            </a:avLst>
          </a:prstGeom>
          <a:solidFill>
            <a:srgbClr val="008080"/>
          </a:solidFill>
          <a:ln w="12700">
            <a:solidFill>
              <a:srgbClr val="0ABAB5"/>
            </a:solidFill>
            <a:prstDash val="solid"/>
          </a:ln>
          <a:effectLst>
            <a:outerShdw sx="100000" sy="100000" kx="0" ky="0" algn="bl" rotWithShape="0" blurRad="101600" dist="12700" dir="16200000">
              <a:srgbClr val="00f294">
                <a:alpha val="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Исследование рынка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A: Контекст и структура розничного рынка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Анализ базовой структуры розничного рынка моторных масел (сегмент S2) на основе подтвержденного среза 2023 года.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29207" y="3514954"/>
            <a:ext cx="9335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Подтверждённый розничный срез S2 (2023 г.)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29207" y="3986784"/>
          <a:ext cx="9335110" cy="3277210"/>
        </p:xfrm>
        <a:graphic>
          <a:graphicData uri="http://schemas.openxmlformats.org/drawingml/2006/table">
            <a:tbl>
              <a:tblPr/>
              <a:tblGrid>
                <a:gridCol w="1570939"/>
                <a:gridCol w="2748686"/>
                <a:gridCol w="5015484"/>
              </a:tblGrid>
              <a:tr h="5462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Бренд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Доля рынка S2 (2023 г.)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Статус / Профиль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LUKOIL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18.1%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Абсолютный лидер розничного сегмента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Gazpromneft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10.5%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Второе место по объемам продаж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Rosneft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8.5%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Замыкает тройку лидеров РФ-производителей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ZIC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5.5%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Крупнейший импортный азиатский игрок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Shell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4.5%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Зарубежный бренд, уходящий с рынка РФ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1429207" y="3191256"/>
            <a:ext cx="1248156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29207" y="3191256"/>
            <a:ext cx="12481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Лидеры розницы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667744" y="3143707"/>
            <a:ext cx="52395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Уход зарубежных операторов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1667744" y="3438144"/>
            <a:ext cx="5239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Уход Shell, ExxonMobil, Total, Castrol создал структурный вакуум в рознице.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667744" y="5048402"/>
            <a:ext cx="52395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Резкий ценовой шок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1667744" y="5343754"/>
            <a:ext cx="5239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Удорожание фасовок 4L сместило потребительский выбор к альтернативам.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1667744" y="6953098"/>
            <a:ext cx="52395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Потенциал СТМ-решений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1667744" y="7248449"/>
            <a:ext cx="5239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Окно спроса открывает возможности для СТМ, но не гарантирует долю рынка автоматически.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8906256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Источник данных: Deep Research A, розничный срез рынка (Retail S2) за 2023 год. Сведения за 2024–2026 гг. отсутствуют в открытых базах (н/д).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7810805" cy="5524805"/>
          </a:xfrm>
          <a:prstGeom prst="roundRect">
            <a:avLst>
              <a:gd name="adj" fmla="val 695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952598"/>
            <a:ext cx="7810805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34195" y="2952598"/>
            <a:ext cx="7810805" cy="5524805"/>
          </a:xfrm>
          <a:prstGeom prst="roundRect">
            <a:avLst>
              <a:gd name="adj" fmla="val 695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34195" y="2952598"/>
            <a:ext cx="7810805" cy="38405"/>
          </a:xfrm>
          <a:prstGeom prst="roundRect">
            <a:avLst>
              <a:gd name="adj" fmla="val 9999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Динамика рынка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A: тренд aftermarket — динамика брендов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 aftermarket-proxy · «кто растёт / кто падает» · после изменений 2022 г.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29207" y="3514954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Усиление рыночных позиций (2022 → 2023)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29207" y="3986784"/>
          <a:ext cx="7239305" cy="3820363"/>
        </p:xfrm>
        <a:graphic>
          <a:graphicData uri="http://schemas.openxmlformats.org/drawingml/2006/table">
            <a:tbl>
              <a:tblPr/>
              <a:tblGrid>
                <a:gridCol w="3619195"/>
                <a:gridCol w="3619195"/>
              </a:tblGrid>
              <a:tr h="6367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Бренд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Доля V1 (2022 → 2023)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LUKOIL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13,3% → 15,2%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ZIC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3,7% → 6,1%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SINTEC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3,9% → 4,7%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Rolf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3,4% → 3,9%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Kixx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н/д → 3,1%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1429207" y="3191256"/>
            <a:ext cx="1324051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29207" y="3191256"/>
            <a:ext cx="13240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Рост / Усиление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620402" y="3514954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Снижение и уход с рынка (2022 → 2023)</a:t>
            </a:r>
            <a:endParaRPr lang="en-US" sz="2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20402" y="3986784"/>
          <a:ext cx="7239305" cy="3820363"/>
        </p:xfrm>
        <a:graphic>
          <a:graphicData uri="http://schemas.openxmlformats.org/drawingml/2006/table">
            <a:tbl>
              <a:tblPr/>
              <a:tblGrid>
                <a:gridCol w="3619195"/>
                <a:gridCol w="3619195"/>
              </a:tblGrid>
              <a:tr h="6367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Бренд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Доля V1 (2022 → 2023)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Shell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11,7% → 5,6%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5,9% → 3,9%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Castrol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4,4% → 3,1%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н/д → 2,3%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G-Energy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3,6% → 2,8%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9620402" y="3191256"/>
            <a:ext cx="1790395" cy="190195"/>
          </a:xfrm>
          <a:prstGeom prst="roundRect">
            <a:avLst>
              <a:gd name="adj" fmla="val 20192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620402" y="3191256"/>
            <a:ext cx="1791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Снижение / Ослабление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" y="8715146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Footnote: V1 = proxy-динамика, не retail-якорь ёмкости; Gazpromneft 2022: 4,0%</a:t>
            </a:r>
            <a:endParaRPr lang="en-US" sz="12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16002000" cy="1714500"/>
          </a:xfrm>
          <a:prstGeom prst="roundRect">
            <a:avLst>
              <a:gd name="adj" fmla="val 2240"/>
            </a:avLst>
          </a:prstGeom>
          <a:solidFill>
            <a:srgbClr val="131B2E"/>
          </a:solidFill>
          <a:ln w="12700">
            <a:solidFill>
              <a:srgbClr val="0ABAB5"/>
            </a:solidFill>
            <a:prstDash val="solid"/>
          </a:ln>
          <a:effectLst>
            <a:outerShdw sx="100000" sy="100000" kx="0" ky="0" algn="bl" rotWithShape="0" blurRad="139700" dist="12700" dir="16200000">
              <a:srgbClr val="00f294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952598"/>
            <a:ext cx="75895" cy="1714500"/>
          </a:xfrm>
          <a:prstGeom prst="roundRect">
            <a:avLst>
              <a:gd name="adj" fmla="val 50603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4953305"/>
            <a:ext cx="7810805" cy="3905402"/>
          </a:xfrm>
          <a:prstGeom prst="roundRect">
            <a:avLst>
              <a:gd name="adj" fmla="val 98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4953305"/>
            <a:ext cx="7810805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34195" y="4953305"/>
            <a:ext cx="7810805" cy="3905402"/>
          </a:xfrm>
          <a:prstGeom prst="roundRect">
            <a:avLst>
              <a:gd name="adj" fmla="val 98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34195" y="4953305"/>
            <a:ext cx="7810805" cy="38405"/>
          </a:xfrm>
          <a:prstGeom prst="roundRect">
            <a:avLst>
              <a:gd name="adj" fmla="val 9999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Методологическая субординация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Фундаментальная субординация данных: Правило S2 / V1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Методологическая дисциплина проекта запрещает объединение или смешение разнородных баз данных.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24305" y="3238805"/>
            <a:ext cx="152403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ABAB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S2(Retail) = уровень · V1(Aftermarket) = тренд · не смешивать · при расхождении — S2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1429207" y="5562295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S2 (Retail) — Розничный уровень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378102" y="6035040"/>
            <a:ext cx="729041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Отражает верифицированный уровень емкости рынка.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Розничная емкость рынка моторных масел РФ: 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278 млн литров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Единственный источник для расчета розничных объемов и долей.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429207" y="5238598"/>
            <a:ext cx="1086307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29207" y="5238598"/>
            <a:ext cx="1086307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Якорь уровня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620402" y="5581498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V1 (Aftermarket) — Векторный тренд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569298" y="6054242"/>
            <a:ext cx="729041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Вспомогательный прокси-слой рыночной динамики после 2022 года.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Показывает относительные направления смещения спроса.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Запрещено: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использовать в качестве розничного якоря емкости.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20402" y="5238598"/>
            <a:ext cx="1571854" cy="209398"/>
          </a:xfrm>
          <a:prstGeom prst="roundRect">
            <a:avLst>
              <a:gd name="adj" fmla="val 18341"/>
            </a:avLst>
          </a:prstGeom>
          <a:noFill/>
          <a:ln w="12700">
            <a:solidFill>
              <a:srgbClr val="0ABA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20402" y="5238598"/>
            <a:ext cx="15718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Индикатор динамики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0ABAB5">
              <a:alpha val="8000"/>
            </a:srgbClr>
          </a:solidFill>
          <a:ln w="12700">
            <a:solidFill>
              <a:srgbClr val="0ABAB5"/>
            </a:solidFill>
            <a:prstDash val="solid"/>
          </a:ln>
          <a:effectLst>
            <a:outerShdw sx="100000" sy="100000" kx="0" ky="0" algn="bl" rotWithShape="0" blurRad="101600" dist="12700" dir="16200000">
              <a:srgbClr val="00f294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144500" y="2952598"/>
            <a:ext cx="4000500" cy="5619902"/>
          </a:xfrm>
          <a:prstGeom prst="roundRect">
            <a:avLst>
              <a:gd name="adj" fmla="val 96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44500" y="2952598"/>
            <a:ext cx="4000500" cy="38405"/>
          </a:xfrm>
          <a:prstGeom prst="roundRect">
            <a:avLst>
              <a:gd name="adj" fmla="val 9999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Продуктовый анализ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1143000"/>
            <a:ext cx="16613734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B: Структура спроса по классам вязкости SAE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Аналитический срез потребительских предпочтений и динамических драйверов роста вязкостей в РФ.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80744" y="3543300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5W-30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380744" y="4573829"/>
            <a:ext cx="3286354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Доля в срезе 1П2023.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Базовое ядро в сегменте Synthetic Retail (45.9%). Основной стандарт современных азиатских и европейских предписаний.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380744" y="3209544"/>
            <a:ext cx="14767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80744" y="3209544"/>
            <a:ext cx="14767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Массовое ядро (OEM)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380744" y="3954780"/>
            <a:ext cx="962863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~35%</a:t>
            </a:r>
            <a:endParaRPr lang="en-US" sz="3100" dirty="0"/>
          </a:p>
        </p:txBody>
      </p:sp>
      <p:sp>
        <p:nvSpPr>
          <p:cNvPr id="22" name="Text 20"/>
          <p:cNvSpPr txBox="1"/>
          <p:nvPr/>
        </p:nvSpPr>
        <p:spPr>
          <a:xfrm>
            <a:off x="5381244" y="3543300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5W-40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381244" y="4573829"/>
            <a:ext cx="3286354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Доля в срезе 1П2023.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Формирует вторую доминанту ядра Synthetic Retail (51.0%). Выбор для широкого парка прошлых поколений автомобилей.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81244" y="3209544"/>
            <a:ext cx="17620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81244" y="3209544"/>
            <a:ext cx="17629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Массовое ядро (Classic)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381244" y="3954780"/>
            <a:ext cx="962863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~32%</a:t>
            </a:r>
            <a:endParaRPr lang="en-US" sz="3100" dirty="0"/>
          </a:p>
        </p:txBody>
      </p:sp>
      <p:sp>
        <p:nvSpPr>
          <p:cNvPr id="27" name="Text 25"/>
          <p:cNvSpPr txBox="1"/>
          <p:nvPr/>
        </p:nvSpPr>
        <p:spPr>
          <a:xfrm>
            <a:off x="9381744" y="3543300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ABAB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0W-20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381744" y="4573829"/>
            <a:ext cx="3286354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Fastest Growth (2025 г.).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Спад зимних 0W-XX в Москве до 4%. Однако 0W-20 вырос на +10.1% в литрах и +16% в деньгах. Лидер роста по B2X 2026.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381744" y="3209544"/>
            <a:ext cx="1047902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81744" y="3209544"/>
            <a:ext cx="104790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Драйвер роста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381744" y="3954780"/>
            <a:ext cx="14484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+10.1%</a:t>
            </a:r>
            <a:endParaRPr lang="en-US" sz="3100" dirty="0"/>
          </a:p>
        </p:txBody>
      </p:sp>
      <p:sp>
        <p:nvSpPr>
          <p:cNvPr id="32" name="Text 30"/>
          <p:cNvSpPr txBox="1"/>
          <p:nvPr/>
        </p:nvSpPr>
        <p:spPr>
          <a:xfrm>
            <a:off x="13382244" y="3543300"/>
            <a:ext cx="35250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4A3B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10W-40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3382244" y="4573829"/>
            <a:ext cx="3525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контраст.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Достигает 49% объема в ЮФО против всего 17% в Москве и МО. Угасающее наследие (declining legacy) для охвата.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3382244" y="3209544"/>
            <a:ext cx="1257300" cy="161849"/>
          </a:xfrm>
          <a:prstGeom prst="roundRect">
            <a:avLst>
              <a:gd name="adj" fmla="val 23729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3382244" y="3209544"/>
            <a:ext cx="1257300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Нишевое покрытие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3382244" y="3954780"/>
            <a:ext cx="2162556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49% / 17%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7715707" cy="5619902"/>
          </a:xfrm>
          <a:prstGeom prst="roundRect">
            <a:avLst>
              <a:gd name="adj" fmla="val 68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952598"/>
            <a:ext cx="77157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2952598"/>
            <a:ext cx="8001000" cy="5619902"/>
          </a:xfrm>
          <a:prstGeom prst="roundRect">
            <a:avLst>
              <a:gd name="adj" fmla="val 68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2952598"/>
            <a:ext cx="80010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Архитектура линейки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Бимодальная структура линейки ELITEN: 4 SKU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Проектирование оптимального портфеля продуктов на основе анализа рыночных вязкостей (Deep Research B) и логики OST/RBS.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29207" y="3543300"/>
            <a:ext cx="762518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Classic Protect — Массовое и Legacy-покрытие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429207" y="5016398"/>
            <a:ext cx="7144207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29207" y="4292194"/>
            <a:ext cx="71442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Массовое синтетическое ядро (доля ~32%). Выбор для широкого парка легковых авто.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29207" y="5454396"/>
            <a:ext cx="78300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Географический охват. Востребовано преимущественно в ЮФО (доля до 49%).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29207" y="3209544"/>
            <a:ext cx="6190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29207" y="3209544"/>
            <a:ext cx="6199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Ветка 1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429207" y="4016045"/>
            <a:ext cx="3781958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SKU 1 · 5W-40 (Synthetic Core)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29207" y="5177333"/>
            <a:ext cx="402976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SKU 2 · 10W-40 (Legacy Coverage)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430207" y="3543300"/>
            <a:ext cx="7429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Modern Tech — Высокотехнологичные и OEM решения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430207" y="5336438"/>
            <a:ext cx="74295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30207" y="4612234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Универсальный стандарт для азиатских и европейских двигателей последних поколений.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430207" y="5773522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Технологический лидер роста (+10.1% в литрах). Ориентирован на новейший китайский импорт.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30207" y="3209544"/>
            <a:ext cx="6190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30207" y="3209544"/>
            <a:ext cx="6199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Ветка 2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9430207" y="4336085"/>
            <a:ext cx="32772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SKU 3 · 5W-30 (Core / OEM)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430207" y="5497373"/>
            <a:ext cx="47823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SKU 4 · 0W-20 (Growth / Future Driver)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8906256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Проектная гипотеза линейки масел. Требуется детальная верификация паспортов качества TDS и технических спецификаций (API/OEM/FIPS).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4858207" cy="5619902"/>
          </a:xfrm>
          <a:prstGeom prst="roundRect">
            <a:avLst>
              <a:gd name="adj" fmla="val 79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952598"/>
            <a:ext cx="4858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1598" y="2952598"/>
            <a:ext cx="4858207" cy="5619902"/>
          </a:xfrm>
          <a:prstGeom prst="roundRect">
            <a:avLst>
              <a:gd name="adj" fmla="val 79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81598" y="2952598"/>
            <a:ext cx="4858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20195" y="2952598"/>
            <a:ext cx="5524805" cy="5619902"/>
          </a:xfrm>
          <a:prstGeom prst="roundRect">
            <a:avLst>
              <a:gd name="adj" fmla="val 695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20195" y="2952598"/>
            <a:ext cx="5524805" cy="38405"/>
          </a:xfrm>
          <a:prstGeom prst="roundRect">
            <a:avLst>
              <a:gd name="adj" fmla="val 9999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Конкурентный анализ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Аудит PGMM / ODSA: Выявление коммуникационных разрывов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Анализ позиционирования и упаковки ключевых рыночных конкурентов для определения рыночной лакуны.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80744" y="3543300"/>
            <a:ext cx="4381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Массовые конкуренты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311046" y="4230929"/>
            <a:ext cx="44515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LUKOIL LUXE · Gazpromneft Premium N · Mobil Super 3000 x1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0744" y="4901184"/>
            <a:ext cx="43818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Наблюдение аудита: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Фокус на «armor-риторике» (броня, защита). OEM/API информация вынесена на заднюю этикетку мелким нечитаемым шрифтом.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80744" y="3209544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80744" y="3209544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Срез 5W-40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380744" y="3954780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Согласованные оппоненты: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20256" y="3543300"/>
            <a:ext cx="4381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Высокотехнологичный сегмент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549644" y="4230929"/>
            <a:ext cx="44515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 1 · Castrol EDGE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20256" y="4661611"/>
            <a:ext cx="4381805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Наблюдение аудита: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Сложные и многочисленные клеймы («claims gap») мешают быстрому выбору. Затруднено считывание китайских и современных стандартов.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0256" y="3209544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0256" y="3209544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Срез 0W-20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620256" y="3954780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Согласованные оппоненты: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858854" y="3543300"/>
            <a:ext cx="5048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Нишевое наследие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1789156" y="4230929"/>
            <a:ext cx="58039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03200" indent="-203200">
              <a:buSzPct val="100000"/>
              <a:buChar char="•"/>
            </a:pPr>
            <a:r>
              <a:rPr lang="en-US" sz="1300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LUKOIL SUPER · Gazpromneft Super · Mobil Super 2000 x1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858854" y="4661611"/>
            <a:ext cx="50484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Наблюдение аудита (White Space):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Сегмент визуально маргинализирован. Игнорируются требования эргономики (1L gap). Выявлена лакуна для понятной навигации.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858854" y="3209544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858854" y="3209544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Срез 10W-40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11858854" y="3954780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Согласованные оппоненты: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8906256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Методологии аудита: PGMM (Product Grid Market Mapping) и ODSA (On-Demand Spec Audit). Выявлен дефицит «читаемых спецификаций» (readable spec gap).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9905695" cy="1904695"/>
          </a:xfrm>
          <a:prstGeom prst="roundRect">
            <a:avLst>
              <a:gd name="adj" fmla="val 2016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39700" dist="12700" dir="16200000">
              <a:srgbClr val="0abab5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952598"/>
            <a:ext cx="75895" cy="1904695"/>
          </a:xfrm>
          <a:prstGeom prst="roundRect">
            <a:avLst>
              <a:gd name="adj" fmla="val 50603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5143500"/>
            <a:ext cx="9905695" cy="3429000"/>
          </a:xfrm>
          <a:prstGeom prst="roundRect">
            <a:avLst>
              <a:gd name="adj" fmla="val 112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5143500"/>
            <a:ext cx="9905695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4902" y="2952598"/>
            <a:ext cx="5810098" cy="5619902"/>
          </a:xfrm>
          <a:prstGeom prst="roundRect">
            <a:avLst>
              <a:gd name="adj" fmla="val 68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4902" y="2952598"/>
            <a:ext cx="5810098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Концепция бренда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Архитектура бренда ELITEN: Инженерный зонтик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Переход от абстрактного маркетинга к жесткой и понятной технической навигации.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29207" y="3476549"/>
            <a:ext cx="9335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BAB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ELITEN — это инженерный зонтик понятного выбора продукта под задачу покупателя.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429207" y="4264762"/>
            <a:ext cx="100209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отказ от ложного пафоса («false premium») и обещаний элитарного стиля жизни.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29207" y="3191256"/>
            <a:ext cx="1399946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29207" y="3191256"/>
            <a:ext cx="140086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Позиционирование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429207" y="5705856"/>
            <a:ext cx="9335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Проектная рамка качества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365402" y="6140196"/>
            <a:ext cx="939800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Качественная базовая основа и строго выверенные пакеты присадок от мировых лидеров.</a:t>
            </a:r>
            <a:pPr algn="l" marL="254000" indent="-254000">
              <a:spcAft>
                <a:spcPts val="750"/>
              </a:spcAft>
              <a:buSzPct val="100000"/>
              <a:buChar char="•"/>
            </a:pPr>
            <a:endParaRPr lang="en-US" sz="1600" dirty="0"/>
          </a:p>
          <a:p>
            <a:pPr algn="l" marL="254000" indent="-254000"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Прозрачность характеристик и понятная логика readable spec на лицевой этикетке.</a:t>
            </a:r>
            <a:pPr algn="l" marL="254000" indent="-254000">
              <a:spcAft>
                <a:spcPts val="750"/>
              </a:spcAft>
              <a:buSzPct val="100000"/>
              <a:buChar char="•"/>
            </a:pPr>
            <a:endParaRPr lang="en-US" sz="1600" dirty="0"/>
          </a:p>
          <a:p>
            <a:pPr algn="l" marL="254000" indent="-254000"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54000" indent="-254000"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Четкое визуальное и продуктовое разделение серий Classic и Modern.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429207" y="5381244"/>
            <a:ext cx="1867205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29207" y="5381244"/>
            <a:ext cx="18672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Продукт и спецификации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72646" y="3552444"/>
            <a:ext cx="533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Защита товарного знака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1572646" y="4892040"/>
            <a:ext cx="5333695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572646" y="4253789"/>
            <a:ext cx="53346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Зарегистрировано по классу 04 МКТУ с приоритетом от 03.12.2025. Опорный защитный барьер бренда.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572646" y="5904281"/>
            <a:ext cx="5333695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572646" y="5265115"/>
            <a:ext cx="53346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Названия Verum и Calibr использовались как исследовательские варианты при проверках.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572646" y="6276442"/>
            <a:ext cx="53346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Наличие товарного знака является обязательным слоем защиты, но не эквивалентно автоматическому разрешению на продажи.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1572646" y="3191256"/>
            <a:ext cx="1009498" cy="190195"/>
          </a:xfrm>
          <a:prstGeom prst="roundRect">
            <a:avLst>
              <a:gd name="adj" fmla="val 20192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572646" y="3191256"/>
            <a:ext cx="10104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Проверка IP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72646" y="3986784"/>
            <a:ext cx="20674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ТЗ RU 1172689 ФИПС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1572646" y="5027371"/>
            <a:ext cx="16486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DDx-альтернативы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572646" y="6038698"/>
            <a:ext cx="1752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Юридическая рамка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9001354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ТЗ ≠ разрешение на продажу · TDS/back label — pre-launch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762402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0" y="2762402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2762402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44500" y="2762402"/>
            <a:ext cx="4000500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5905195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0ABAB5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5905195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0ABAB5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5905195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0ABAB5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44500" y="5905195"/>
            <a:ext cx="4000500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0ABAB5">
                <a:alpha val="8000"/>
              </a:srgbClr>
            </a:solidFill>
            <a:prstDash val="solid"/>
          </a:ln>
        </p:spPr>
      </p:sp>
      <p:pic>
        <p:nvPicPr>
          <p:cNvPr id="14" name="Image 0" descr="gen-dedup-84487b3cb848b2d43162c4d8e61339f7.jpg">    </p:cNvPr>
          <p:cNvPicPr>
            <a:picLocks noChangeAspect="1"/>
          </p:cNvPicPr>
          <p:nvPr/>
        </p:nvPicPr>
        <p:blipFill>
          <a:blip r:embed="rId1"/>
          <a:srcRect l="0" r="0" t="-10456" b="-10456"/>
          <a:stretch/>
        </p:blipFill>
        <p:spPr>
          <a:xfrm>
            <a:off x="1285646" y="2905049"/>
            <a:ext cx="1714500" cy="2667305"/>
          </a:xfrm>
          <a:prstGeom prst="rect">
            <a:avLst/>
          </a:prstGeom>
        </p:spPr>
      </p:pic>
      <p:pic>
        <p:nvPicPr>
          <p:cNvPr id="15" name="Image 1" descr="gen-dedup-cb388fce3c2e997b4a6325238c8eaed3.jpg">    </p:cNvPr>
          <p:cNvPicPr>
            <a:picLocks noChangeAspect="1"/>
          </p:cNvPicPr>
          <p:nvPr/>
        </p:nvPicPr>
        <p:blipFill>
          <a:blip r:embed="rId2"/>
          <a:srcRect l="0" r="0" t="-10456" b="-10456"/>
          <a:stretch/>
        </p:blipFill>
        <p:spPr>
          <a:xfrm>
            <a:off x="5286146" y="2905049"/>
            <a:ext cx="1714500" cy="2667305"/>
          </a:xfrm>
          <a:prstGeom prst="rect">
            <a:avLst/>
          </a:prstGeom>
        </p:spPr>
      </p:pic>
      <p:pic>
        <p:nvPicPr>
          <p:cNvPr id="16" name="Image 2" descr="gen-dedup-c1c30ed26c4a9faa6a3e401b0f8a1d6a.jpg">    </p:cNvPr>
          <p:cNvPicPr>
            <a:picLocks noChangeAspect="1"/>
          </p:cNvPicPr>
          <p:nvPr/>
        </p:nvPicPr>
        <p:blipFill>
          <a:blip r:embed="rId3"/>
          <a:srcRect l="0" r="0" t="-10456" b="-10456"/>
          <a:stretch/>
        </p:blipFill>
        <p:spPr>
          <a:xfrm>
            <a:off x="9286646" y="2905049"/>
            <a:ext cx="1714500" cy="2667305"/>
          </a:xfrm>
          <a:prstGeom prst="rect">
            <a:avLst/>
          </a:prstGeom>
        </p:spPr>
      </p:pic>
      <p:pic>
        <p:nvPicPr>
          <p:cNvPr id="17" name="Image 3" descr="gen-dedup-d099dbe4f762d9a20162c1524705e1c1.jpg">    </p:cNvPr>
          <p:cNvPicPr>
            <a:picLocks noChangeAspect="1"/>
          </p:cNvPicPr>
          <p:nvPr/>
        </p:nvPicPr>
        <p:blipFill>
          <a:blip r:embed="rId4"/>
          <a:srcRect l="0" r="0" t="-10456" b="-10456"/>
          <a:stretch/>
        </p:blipFill>
        <p:spPr>
          <a:xfrm>
            <a:off x="13287146" y="2905049"/>
            <a:ext cx="1714500" cy="2667305"/>
          </a:xfrm>
          <a:prstGeom prst="rect">
            <a:avLst/>
          </a:prstGeom>
        </p:spPr>
      </p:pic>
      <p:pic>
        <p:nvPicPr>
          <p:cNvPr id="18" name="Image 4" descr="gen-dedup-196407e6ed13983df91a6cf3c939dd72.jpg">    </p:cNvPr>
          <p:cNvPicPr>
            <a:picLocks noChangeAspect="1"/>
          </p:cNvPicPr>
          <p:nvPr/>
        </p:nvPicPr>
        <p:blipFill>
          <a:blip r:embed="rId5"/>
          <a:srcRect l="0" r="0" t="-10456" b="-10456"/>
          <a:stretch/>
        </p:blipFill>
        <p:spPr>
          <a:xfrm>
            <a:off x="1333195" y="6048756"/>
            <a:ext cx="1714500" cy="2667305"/>
          </a:xfrm>
          <a:prstGeom prst="rect">
            <a:avLst/>
          </a:prstGeom>
        </p:spPr>
      </p:pic>
      <p:pic>
        <p:nvPicPr>
          <p:cNvPr id="19" name="Image 5" descr="gen-dedup-038450332f4648abbc2bd1af0c8d9581.jpg">    </p:cNvPr>
          <p:cNvPicPr>
            <a:picLocks noChangeAspect="1"/>
          </p:cNvPicPr>
          <p:nvPr/>
        </p:nvPicPr>
        <p:blipFill>
          <a:blip r:embed="rId6"/>
          <a:srcRect l="0" r="0" t="-10456" b="-10456"/>
          <a:stretch/>
        </p:blipFill>
        <p:spPr>
          <a:xfrm>
            <a:off x="5333695" y="6048756"/>
            <a:ext cx="1714500" cy="2667305"/>
          </a:xfrm>
          <a:prstGeom prst="rect">
            <a:avLst/>
          </a:prstGeom>
        </p:spPr>
      </p:pic>
      <p:pic>
        <p:nvPicPr>
          <p:cNvPr id="20" name="Image 6" descr="gen-dedup-c6ead9d37b55d7683f18a83a72902776.jpg">    </p:cNvPr>
          <p:cNvPicPr>
            <a:picLocks noChangeAspect="1"/>
          </p:cNvPicPr>
          <p:nvPr/>
        </p:nvPicPr>
        <p:blipFill>
          <a:blip r:embed="rId7"/>
          <a:srcRect l="0" r="0" t="-10456" b="-10456"/>
          <a:stretch/>
        </p:blipFill>
        <p:spPr>
          <a:xfrm>
            <a:off x="9334195" y="6048756"/>
            <a:ext cx="1714500" cy="2667305"/>
          </a:xfrm>
          <a:prstGeom prst="rect">
            <a:avLst/>
          </a:prstGeom>
        </p:spPr>
      </p:pic>
      <p:pic>
        <p:nvPicPr>
          <p:cNvPr id="21" name="Image 7" descr="gen-dedup-bacc1b55f1abbeb62888e8079bf34cc7.jpg">    </p:cNvPr>
          <p:cNvPicPr>
            <a:picLocks noChangeAspect="1"/>
          </p:cNvPicPr>
          <p:nvPr/>
        </p:nvPicPr>
        <p:blipFill>
          <a:blip r:embed="rId8"/>
          <a:srcRect l="0" r="0" t="-10456" b="-10456"/>
          <a:stretch/>
        </p:blipFill>
        <p:spPr>
          <a:xfrm>
            <a:off x="13334695" y="6048756"/>
            <a:ext cx="1714500" cy="266730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Визуальные концепты</a:t>
            </a:r>
            <a:endParaRPr lang="en-US" sz="1200" dirty="0"/>
          </a:p>
        </p:txBody>
      </p:sp>
      <p:sp>
        <p:nvSpPr>
          <p:cNvPr id="23" name="Text 13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Визуальные концепты упаковок (Concept Front Mockups)</a:t>
            </a:r>
            <a:endParaRPr lang="en-US" sz="3600" dirty="0"/>
          </a:p>
        </p:txBody>
      </p:sp>
      <p:sp>
        <p:nvSpPr>
          <p:cNvPr id="24" name="Text 14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Прототипирование дизайн-системы для двух ветвей бренда на графитовом носителе с выделенной зоной спецификаций.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3095244" y="3314700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26" name="Text 16"/>
          <p:cNvSpPr txBox="1"/>
          <p:nvPr/>
        </p:nvSpPr>
        <p:spPr>
          <a:xfrm>
            <a:off x="3095244" y="3874313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5W-40 4L</a:t>
            </a:r>
            <a:endParaRPr lang="en-US" sz="1500" dirty="0"/>
          </a:p>
        </p:txBody>
      </p:sp>
      <p:sp>
        <p:nvSpPr>
          <p:cNvPr id="27" name="Text 17"/>
          <p:cNvSpPr txBox="1"/>
          <p:nvPr/>
        </p:nvSpPr>
        <p:spPr>
          <a:xfrm>
            <a:off x="3095244" y="4217213"/>
            <a:ext cx="177942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Синтетическая основа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3095244" y="3019349"/>
            <a:ext cx="11905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3095244" y="3019349"/>
            <a:ext cx="11914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Classic Protect</a:t>
            </a:r>
            <a:endParaRPr lang="en-US" sz="800" dirty="0"/>
          </a:p>
        </p:txBody>
      </p:sp>
      <p:sp>
        <p:nvSpPr>
          <p:cNvPr id="30" name="Text 20"/>
          <p:cNvSpPr txBox="1"/>
          <p:nvPr/>
        </p:nvSpPr>
        <p:spPr>
          <a:xfrm>
            <a:off x="7095744" y="3314700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7095744" y="3874313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5W-40 1L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7095744" y="4217213"/>
            <a:ext cx="177942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Синтетическая основа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7095744" y="3019349"/>
            <a:ext cx="11905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7095744" y="3019349"/>
            <a:ext cx="11914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Classic Protect</a:t>
            </a:r>
            <a:endParaRPr lang="en-US" sz="800" dirty="0"/>
          </a:p>
        </p:txBody>
      </p:sp>
      <p:sp>
        <p:nvSpPr>
          <p:cNvPr id="35" name="Text 25"/>
          <p:cNvSpPr txBox="1"/>
          <p:nvPr/>
        </p:nvSpPr>
        <p:spPr>
          <a:xfrm>
            <a:off x="11096244" y="3314700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36" name="Text 26"/>
          <p:cNvSpPr txBox="1"/>
          <p:nvPr/>
        </p:nvSpPr>
        <p:spPr>
          <a:xfrm>
            <a:off x="11096244" y="3874313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10W-40 4L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11096244" y="4217213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Полусинтетика ЮФО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11096244" y="3019349"/>
            <a:ext cx="11905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11096244" y="3019349"/>
            <a:ext cx="11914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Classic Protect</a:t>
            </a:r>
            <a:endParaRPr lang="en-US" sz="800" dirty="0"/>
          </a:p>
        </p:txBody>
      </p:sp>
      <p:sp>
        <p:nvSpPr>
          <p:cNvPr id="40" name="Text 30"/>
          <p:cNvSpPr txBox="1"/>
          <p:nvPr/>
        </p:nvSpPr>
        <p:spPr>
          <a:xfrm>
            <a:off x="15096744" y="3314700"/>
            <a:ext cx="190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41" name="Text 31"/>
          <p:cNvSpPr txBox="1"/>
          <p:nvPr/>
        </p:nvSpPr>
        <p:spPr>
          <a:xfrm>
            <a:off x="15096744" y="3622853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10W-40 1L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15096744" y="3965753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Полусинтетика ЮФО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15096744" y="3019349"/>
            <a:ext cx="11905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15096744" y="3019349"/>
            <a:ext cx="11914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Classic Protect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3143707" y="6458407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46" name="Text 36"/>
          <p:cNvSpPr txBox="1"/>
          <p:nvPr/>
        </p:nvSpPr>
        <p:spPr>
          <a:xfrm>
            <a:off x="3143707" y="7018020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5W-30 4L</a:t>
            </a:r>
            <a:endParaRPr lang="en-US" sz="1500" dirty="0"/>
          </a:p>
        </p:txBody>
      </p:sp>
      <p:sp>
        <p:nvSpPr>
          <p:cNvPr id="47" name="Text 37"/>
          <p:cNvSpPr txBox="1"/>
          <p:nvPr/>
        </p:nvSpPr>
        <p:spPr>
          <a:xfrm>
            <a:off x="3143707" y="7360920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Синтетика Core/OEM</a:t>
            </a:r>
            <a:endParaRPr lang="en-US" sz="1100" dirty="0"/>
          </a:p>
        </p:txBody>
      </p:sp>
      <p:sp>
        <p:nvSpPr>
          <p:cNvPr id="48" name="Shape 38"/>
          <p:cNvSpPr/>
          <p:nvPr/>
        </p:nvSpPr>
        <p:spPr>
          <a:xfrm>
            <a:off x="3143707" y="6163056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3143707" y="6163056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Tech</a:t>
            </a:r>
            <a:endParaRPr lang="en-US" sz="800" dirty="0"/>
          </a:p>
        </p:txBody>
      </p:sp>
      <p:sp>
        <p:nvSpPr>
          <p:cNvPr id="50" name="Text 40"/>
          <p:cNvSpPr txBox="1"/>
          <p:nvPr/>
        </p:nvSpPr>
        <p:spPr>
          <a:xfrm>
            <a:off x="7144207" y="6458407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51" name="Text 41"/>
          <p:cNvSpPr txBox="1"/>
          <p:nvPr/>
        </p:nvSpPr>
        <p:spPr>
          <a:xfrm>
            <a:off x="7144207" y="7018020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5W-30 1L</a:t>
            </a:r>
            <a:endParaRPr lang="en-US" sz="1500" dirty="0"/>
          </a:p>
        </p:txBody>
      </p:sp>
      <p:sp>
        <p:nvSpPr>
          <p:cNvPr id="52" name="Text 42"/>
          <p:cNvSpPr txBox="1"/>
          <p:nvPr/>
        </p:nvSpPr>
        <p:spPr>
          <a:xfrm>
            <a:off x="7144207" y="7360920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Синтетика Core/OEM</a:t>
            </a:r>
            <a:endParaRPr lang="en-US" sz="1100" dirty="0"/>
          </a:p>
        </p:txBody>
      </p:sp>
      <p:sp>
        <p:nvSpPr>
          <p:cNvPr id="53" name="Shape 43"/>
          <p:cNvSpPr/>
          <p:nvPr/>
        </p:nvSpPr>
        <p:spPr>
          <a:xfrm>
            <a:off x="7144207" y="6163056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7144207" y="6163056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Tech</a:t>
            </a:r>
            <a:endParaRPr lang="en-US" sz="800" dirty="0"/>
          </a:p>
        </p:txBody>
      </p:sp>
      <p:sp>
        <p:nvSpPr>
          <p:cNvPr id="55" name="Text 45"/>
          <p:cNvSpPr txBox="1"/>
          <p:nvPr/>
        </p:nvSpPr>
        <p:spPr>
          <a:xfrm>
            <a:off x="11144707" y="6458407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56" name="Text 46"/>
          <p:cNvSpPr txBox="1"/>
          <p:nvPr/>
        </p:nvSpPr>
        <p:spPr>
          <a:xfrm>
            <a:off x="11144707" y="7018020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0W-20 5L</a:t>
            </a:r>
            <a:endParaRPr lang="en-US" sz="1500" dirty="0"/>
          </a:p>
        </p:txBody>
      </p:sp>
      <p:sp>
        <p:nvSpPr>
          <p:cNvPr id="57" name="Text 47"/>
          <p:cNvSpPr txBox="1"/>
          <p:nvPr/>
        </p:nvSpPr>
        <p:spPr>
          <a:xfrm>
            <a:off x="11144707" y="7360920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Синтетика Growth</a:t>
            </a:r>
            <a:endParaRPr lang="en-US" sz="1100" dirty="0"/>
          </a:p>
        </p:txBody>
      </p:sp>
      <p:sp>
        <p:nvSpPr>
          <p:cNvPr id="58" name="Shape 48"/>
          <p:cNvSpPr/>
          <p:nvPr/>
        </p:nvSpPr>
        <p:spPr>
          <a:xfrm>
            <a:off x="11144707" y="6163056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11144707" y="6163056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Tech</a:t>
            </a:r>
            <a:endParaRPr lang="en-US" sz="800" dirty="0"/>
          </a:p>
        </p:txBody>
      </p:sp>
      <p:sp>
        <p:nvSpPr>
          <p:cNvPr id="60" name="Text 50"/>
          <p:cNvSpPr txBox="1"/>
          <p:nvPr/>
        </p:nvSpPr>
        <p:spPr>
          <a:xfrm>
            <a:off x="15145207" y="6458407"/>
            <a:ext cx="190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61" name="Text 51"/>
          <p:cNvSpPr txBox="1"/>
          <p:nvPr/>
        </p:nvSpPr>
        <p:spPr>
          <a:xfrm>
            <a:off x="15145207" y="6766560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0W-20 1L</a:t>
            </a:r>
            <a:endParaRPr lang="en-US" sz="1500" dirty="0"/>
          </a:p>
        </p:txBody>
      </p:sp>
      <p:sp>
        <p:nvSpPr>
          <p:cNvPr id="62" name="Text 52"/>
          <p:cNvSpPr txBox="1"/>
          <p:nvPr/>
        </p:nvSpPr>
        <p:spPr>
          <a:xfrm>
            <a:off x="15145207" y="7109460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Синтетика Growth</a:t>
            </a:r>
            <a:endParaRPr lang="en-US" sz="1100" dirty="0"/>
          </a:p>
        </p:txBody>
      </p:sp>
      <p:sp>
        <p:nvSpPr>
          <p:cNvPr id="63" name="Shape 53"/>
          <p:cNvSpPr/>
          <p:nvPr/>
        </p:nvSpPr>
        <p:spPr>
          <a:xfrm>
            <a:off x="15145207" y="6163056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15145207" y="6163056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Tech</a:t>
            </a:r>
            <a:endParaRPr lang="en-US" sz="800" dirty="0"/>
          </a:p>
        </p:txBody>
      </p:sp>
      <p:sp>
        <p:nvSpPr>
          <p:cNvPr id="65" name="Text 55"/>
          <p:cNvSpPr txBox="1"/>
          <p:nvPr/>
        </p:nvSpPr>
        <p:spPr>
          <a:xfrm>
            <a:off x="1143000" y="9001354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Дизайн-система: единый графитовый носитель канистр, визуальное разведение веток через цветовые сигналы и графический акцент «oil ribbon» (янтарная лента масла). Без указания блендингового завода.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77157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952598"/>
            <a:ext cx="77157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2952598"/>
            <a:ext cx="8001000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2952598"/>
            <a:ext cx="80010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5905195"/>
            <a:ext cx="77157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5905195"/>
            <a:ext cx="77157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5905195"/>
            <a:ext cx="8001000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5905195"/>
            <a:ext cx="80010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Проектные ограничения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Границы исследования: Ограничения и допущения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Прозрачная фиксация допущений и неопределенностей, обязательная для строгой академической защиты.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80744" y="3143707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80744" y="3143707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Квадрант 1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284171" y="3157423"/>
            <a:ext cx="8961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/ Данные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380744" y="3438144"/>
            <a:ext cx="7239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Неполнота розничных долей 2024–2026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285646" y="3781044"/>
            <a:ext cx="733440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открытых базах </a:t>
            </a:r>
            <a:pPr algn="l" marL="228600" indent="-228600">
              <a:buSzPct val="100000"/>
              <a:buChar char="•"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подтверждены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розничные доли за 2024–2026 гг.</a:t>
            </a:r>
            <a:pPr algn="l" marL="228600" indent="-228600">
              <a:buSzPct val="100000"/>
              <a:buChar char="•"/>
            </a:pPr>
            <a:endParaRPr lang="en-US" sz="1400" dirty="0"/>
          </a:p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Их текущее присутствие в B2X принято в качестве рабочей гипотезы (н/д).</a:t>
            </a:r>
            <a:pPr algn="l" marL="228600" indent="-228600">
              <a:buSzPct val="100000"/>
              <a:buChar char="•"/>
            </a:pPr>
            <a:endParaRPr lang="en-US" sz="1400" dirty="0"/>
          </a:p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Требуется верификация фактических продаж на этапе пилота.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81744" y="3143707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81744" y="3143707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Квадрант 2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0285171" y="3157423"/>
            <a:ext cx="15151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Technical / Технологии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381744" y="3438144"/>
            <a:ext cx="75255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Лабораторная валидация TDS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286646" y="3781044"/>
            <a:ext cx="762061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Паспорта качества (TDS) составлены в рамках ТЗ проекта.</a:t>
            </a:r>
            <a:pPr algn="l" marL="228600" indent="-228600">
              <a:buSzPct val="100000"/>
              <a:buChar char="•"/>
            </a:pPr>
            <a:endParaRPr lang="en-US" sz="1400" dirty="0"/>
          </a:p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Необходимы физико-химические испытания блендинговой смеси.</a:t>
            </a:r>
            <a:pPr algn="l" marL="228600" indent="-228600">
              <a:buSzPct val="100000"/>
              <a:buChar char="•"/>
            </a:pPr>
            <a:endParaRPr lang="en-US" sz="1400" dirty="0"/>
          </a:p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Обязательное лабораторное подтверждение соответствия допускам.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80744" y="6096305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80744" y="6096305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Квадрант 3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2284171" y="6110021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Legal / Юриспруденция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380744" y="6391656"/>
            <a:ext cx="7239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Юридический комплаенс этикеток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285646" y="6705295"/>
            <a:ext cx="733440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Регистрация ТЗ ФИПС RU 1172689 является защитным IP-барьером.</a:t>
            </a:r>
            <a:pPr algn="l" marL="228600" indent="-228600">
              <a:buSzPct val="100000"/>
              <a:buChar char="•"/>
            </a:pPr>
            <a:endParaRPr lang="en-US" sz="1400" dirty="0"/>
          </a:p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Наличие зарегистрированного знака </a:t>
            </a:r>
            <a:pPr algn="l" marL="228600" indent="-228600">
              <a:buSzPct val="100000"/>
              <a:buChar char="•"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эквивалентно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допуску к продаже.</a:t>
            </a:r>
            <a:pPr algn="l" marL="228600" indent="-228600">
              <a:buSzPct val="100000"/>
              <a:buChar char="•"/>
            </a:pPr>
            <a:endParaRPr lang="en-US" sz="1400" dirty="0"/>
          </a:p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Обязателен комплаенс текстов back label на предмет соответствия стандартам.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381744" y="6096305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81744" y="6096305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Квадрант 4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285171" y="6110021"/>
            <a:ext cx="13816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Commercial / Финансы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381744" y="6391656"/>
            <a:ext cx="75255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Согласование себестоимости и завода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286646" y="6705295"/>
            <a:ext cx="762061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сознательно **не раскрывает** конкретных блендинговых площадок.</a:t>
            </a:r>
            <a:pPr algn="l" marL="228600" indent="-228600">
              <a:buSzPct val="100000"/>
              <a:buChar char="•"/>
            </a:pPr>
            <a:endParaRPr lang="en-US" sz="1400" dirty="0"/>
          </a:p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изготовителя вынесен на веху коммерческого тендера.</a:t>
            </a:r>
            <a:pPr algn="l" marL="228600" indent="-228600">
              <a:buSzPct val="100000"/>
              <a:buChar char="•"/>
            </a:pPr>
            <a:endParaRPr lang="en-US" sz="1400" dirty="0"/>
          </a:p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Экономические параметры требуют валидации цен на базовые масла.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8906256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Аналитические рамки исследования. Систематизация рисков проведена в рамках аудита Red Team для обеспечения жесткой доказательности проекта.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pic>
        <p:nvPicPr>
          <p:cNvPr id="12" name="Image 0" descr="gen-dedup-2906927863f0d9ee85441228a5d22635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13144500" y="2952598"/>
            <a:ext cx="4000500" cy="56199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План реализации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Дорожная карта: Вехи валидации и запуск по волнам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Поэтапный переход от теоретического исследования к практическому освоению рыночных сегментов по волнам вязкости.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80744" y="3543300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Ф1 ✅ Проектирование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272946" y="3954780"/>
            <a:ext cx="3394151" cy="175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Разработка концепции ELITEN.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Анализ розничного рынка (S2).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Обоснование структуры вязкостей.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Регистрация ТЗ в ФИПС.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380744" y="3209544"/>
            <a:ext cx="13999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380744" y="3209544"/>
            <a:ext cx="14008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Фаза 1 · Выполнено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5381244" y="3543300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Ф2 ✅ Прототипы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5273446" y="3954780"/>
            <a:ext cx="33941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Отрисовка mockups 8/8 в 3D.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Разведение Classic и Modern.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Спецификация этикеток (Readable Spec).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381244" y="3209544"/>
            <a:ext cx="13999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81244" y="3209544"/>
            <a:ext cx="14008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Фаза 2 · Выполнено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9381744" y="3495751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Запуск по волнам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9381744" y="4450385"/>
            <a:ext cx="3286354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81744" y="4125773"/>
            <a:ext cx="32863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5W-40 и 5W-30.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381744" y="5071262"/>
            <a:ext cx="3286354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381744" y="4746650"/>
            <a:ext cx="32863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Внедрение драйвера роста 0W-20.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381744" y="5367528"/>
            <a:ext cx="32863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Охватный запуск 10W-40 в ЮФО.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381744" y="3161995"/>
            <a:ext cx="1476756" cy="161849"/>
          </a:xfrm>
          <a:prstGeom prst="roundRect">
            <a:avLst>
              <a:gd name="adj" fmla="val 23729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381744" y="3161995"/>
            <a:ext cx="14767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Внедрение · 2026 г.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9381744" y="3907231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Волна 1 (В1)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381744" y="4528109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Волна 2 (В2)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381744" y="5148986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Волна 3 (В3)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3382244" y="3543300"/>
            <a:ext cx="35250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Ф3 ⬜ GTM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13274446" y="3954780"/>
            <a:ext cx="3632810" cy="186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⬜ Проведение производственного тендера.</a:t>
            </a:r>
            <a:pPr algn="l" marL="241300" indent="-241300">
              <a:spcAft>
                <a:spcPts val="9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⬜ Валидация себестоимости партии.</a:t>
            </a:r>
            <a:pPr algn="l" marL="241300" indent="-241300">
              <a:spcAft>
                <a:spcPts val="9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⬜ Юридический комплаенс этикеток.</a:t>
            </a:r>
            <a:pPr algn="l" marL="241300" indent="-241300">
              <a:spcAft>
                <a:spcPts val="900"/>
              </a:spcAft>
              <a:buSzPct val="100000"/>
              <a:buChar char="•"/>
            </a:pPr>
            <a:endParaRPr lang="en-US" sz="1500" dirty="0"/>
          </a:p>
          <a:p>
            <a:pPr algn="l" marL="241300" indent="-2413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pPr algn="l" marL="241300" indent="-2413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⬜ Запуск коммерческих продаж.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3382244" y="3209544"/>
            <a:ext cx="1333195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3382244" y="3209544"/>
            <a:ext cx="1334110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Фаза 3 · Ожидание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286000"/>
            <a:ext cx="16002000" cy="6476695"/>
          </a:xfrm>
          <a:prstGeom prst="roundRect">
            <a:avLst>
              <a:gd name="adj" fmla="val 59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286000"/>
            <a:ext cx="160020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Приложение A1 · Методологический след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Приложение A1: методологический след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29207" y="2572207"/>
          <a:ext cx="15430500" cy="5610758"/>
        </p:xfrm>
        <a:graphic>
          <a:graphicData uri="http://schemas.openxmlformats.org/drawingml/2006/table">
            <a:tbl>
              <a:tblPr/>
              <a:tblGrid>
                <a:gridCol w="3394253"/>
                <a:gridCol w="4320540"/>
                <a:gridCol w="3857854"/>
                <a:gridCol w="3857854"/>
              </a:tblGrid>
              <a:tr h="935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Компетенция / задача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Руководство / метод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Полученный артефакт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Влияние на результат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Постановка бизнес-задачи для ИИ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Протокол аналитика: задача → критерии → ограничения → формат → алгоритм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План диплома, критерии успеха, этапы 0–7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Проект получил управляемую структуру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Meta-Prompting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GPTOracle / AI Research Meta-Prompter + Red Team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Усиленные Deep Research-промпты A/B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Снижены риски слабой постановки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Изучение рынка с помощью ИИ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Research A + URL/evidence check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Research A: рынок, бренды, S2/V1, шоки 2022+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Сформирован рыночный контекст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Анализ продуктового спроса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Research B + отдельная SAE-рамка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Research B: вязкости, SAE-прокси, 0W-20, 10W-40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Обоснована SKU-гипотеза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Проверка результатов ИИ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Декомпозиция Deep Research + wiki-ingest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Decomposed Deep Research, wiki, evidence base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Факты, выводы и гипотезы разведены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286000"/>
            <a:ext cx="16002000" cy="6476695"/>
          </a:xfrm>
          <a:prstGeom prst="roundRect">
            <a:avLst>
              <a:gd name="adj" fmla="val 59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286000"/>
            <a:ext cx="160020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Приложение A2 · Методологический след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Приложение A2: методологический след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29207" y="2572207"/>
          <a:ext cx="15430500" cy="5315407"/>
        </p:xfrm>
        <a:graphic>
          <a:graphicData uri="http://schemas.openxmlformats.org/drawingml/2006/table">
            <a:tbl>
              <a:tblPr/>
              <a:tblGrid>
                <a:gridCol w="3394253"/>
                <a:gridCol w="4320540"/>
                <a:gridCol w="3857854"/>
                <a:gridCol w="3857854"/>
              </a:tblGrid>
              <a:tr h="759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Компетенция / задача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Руководство / метод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Полученный артефакт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Влияние на результат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Нейромаркетинговый анализ упаковки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PGMM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Матрицы визуальных кодов конкурентов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Выявлены паттерны рынка и white space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Аудит коммуникационных claims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ODSA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Front/back claims, lacunae, risk register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Определены риски API/ACEA/OEM, TDS, back label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Нейминг и бренд-архитектура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DDx + ODSA + FIPS-проверка вне LLM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ELITEN, Verum, Calibr; выбор ELITEN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Имя связано с позиционированием и IP-рисками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Генерация графических материалов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Prompt pipeline + material cleanup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 concept front mockups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Визуальная система связана с PGMM/ODSA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Roadmap запуска СТМ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Глубокая декомпозиция Deep Research: MECE, CLA, OST, RBS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Сводный чеклист запуска СТМ моторных масел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Аналитика переведена в операционные next steps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Продуктовая и коммуникационная стратегия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Синтез Deep Research A + Deep Research B + PGMM/ODSA + бренд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SKU-гипотеза, позиционирование, roadmap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Проект собран в прикладную концепцию запуска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3000146"/>
            <a:ext cx="4858207" cy="5524805"/>
          </a:xfrm>
          <a:prstGeom prst="roundRect">
            <a:avLst>
              <a:gd name="adj" fmla="val 79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3000146"/>
            <a:ext cx="4858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1598" y="3000146"/>
            <a:ext cx="4858207" cy="5524805"/>
          </a:xfrm>
          <a:prstGeom prst="roundRect">
            <a:avLst>
              <a:gd name="adj" fmla="val 79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81598" y="3000146"/>
            <a:ext cx="4858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20195" y="3000146"/>
            <a:ext cx="5524805" cy="5524805"/>
          </a:xfrm>
          <a:prstGeom prst="roundRect">
            <a:avLst>
              <a:gd name="adj" fmla="val 695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20195" y="3000146"/>
            <a:ext cx="5524805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Приложение B · Чеклист запуска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143000"/>
            <a:ext cx="160020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Приложение B: Сводный чеклист по результатам декомпозиции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381098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Спецификация конкретных задач и критериев приемки (MECE/CLA/OST/RBS) для пре-лонч верификации.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80744" y="3648456"/>
            <a:ext cx="4381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Продукт &amp; R&amp;D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80744" y="4304081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Бимодальный портфель (Classic Protect / Modern Tech) и волны запуска вязкостей.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0744" y="5221224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Паспорта качества, верификация физико-химических спецификаций и стандартов.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80744" y="6138367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Опытные смеси базовых масел и целевых пакетов присадок.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80744" y="3238805"/>
            <a:ext cx="694944" cy="237744"/>
          </a:xfrm>
          <a:prstGeom prst="roundRect">
            <a:avLst>
              <a:gd name="adj" fmla="val 16154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80744" y="3238805"/>
            <a:ext cx="6958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Блок 1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380744" y="4065422"/>
            <a:ext cx="18480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Портфель SKU: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80744" y="4982566"/>
            <a:ext cx="286847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Технические карты (TDS):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80744" y="5899709"/>
            <a:ext cx="284561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Лабораторный блендинг: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0256" y="3648456"/>
            <a:ext cx="4381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Брендинг &amp; Право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620256" y="4304081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Патентная чистота ТЗ ФИПС RU 1172689 по кл. 04. Проверка коллизий.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20256" y="5221224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и утверждение 8/8 концепт-макетов front label по логике readable spec.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20256" y="6138367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Юридический комплаенс и тексты спецификаций на back label канистры.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0256" y="3238805"/>
            <a:ext cx="694944" cy="237744"/>
          </a:xfrm>
          <a:prstGeom prst="roundRect">
            <a:avLst>
              <a:gd name="adj" fmla="val 16154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0256" y="3238805"/>
            <a:ext cx="6958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Блок 2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620256" y="4065422"/>
            <a:ext cx="2585009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Патентный комплаенс: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20256" y="4982566"/>
            <a:ext cx="315193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Макеты упаковок (Mockups):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20256" y="5899709"/>
            <a:ext cx="235823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Оборотная этикетка: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858854" y="3648456"/>
            <a:ext cx="5048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Коммерция &amp; GTM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1858854" y="4304081"/>
            <a:ext cx="5048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 технико-коммерческих предложений (ТКП) от блендинговых заводов.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858854" y="5221224"/>
            <a:ext cx="5048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Расчет себестоимости блендинга, упаковки, добавок и логистического плеча.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1858854" y="6138367"/>
            <a:ext cx="5048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Согласование розничных наценок, входа в сети и тестовой географии продаж.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1858854" y="3238805"/>
            <a:ext cx="694944" cy="237744"/>
          </a:xfrm>
          <a:prstGeom prst="roundRect">
            <a:avLst>
              <a:gd name="adj" fmla="val 16154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858854" y="3238805"/>
            <a:ext cx="6958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800" b="1" spc="66" kern="0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Блок 3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1858854" y="4065422"/>
            <a:ext cx="307238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Производственный тендер: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1858854" y="4982566"/>
            <a:ext cx="278892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Юнит-экономика партии: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858854" y="5899709"/>
            <a:ext cx="249448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Дистрибуция и пилот: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1907"/>
        </p:xfrm>
        <a:graphic>
          <a:graphicData uri="http://schemas.openxmlformats.org/drawingml/2006/table">
            <a:tbl>
              <a:tblPr/>
              <a:tblGrid>
                <a:gridCol w="15670073"/>
                <a:gridCol w="331927"/>
              </a:tblGrid>
              <a:tr h="17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2026-06-30T20:49:21Z</dcterms:created>
  <dcterms:modified xsi:type="dcterms:W3CDTF">2026-06-30T20:49:21Z</dcterms:modified>
</cp:coreProperties>
</file>